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Kanit" panose="020B0604020202020204" charset="-34"/>
      <p:regular r:id="rId13"/>
    </p:embeddedFont>
    <p:embeddedFont>
      <p:font typeface="Martel Sans Bold" panose="020B0604020202020204" charset="0"/>
      <p:regular r:id="rId14"/>
    </p:embeddedFont>
    <p:embeddedFont>
      <p:font typeface="Martel Sans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04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727695"/>
            <a:ext cx="4667845" cy="41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Ankur Thakkar, PMP</a:t>
            </a:r>
            <a:r>
              <a:rPr lang="en-US" sz="25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®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52577" y="1342132"/>
            <a:ext cx="4667845" cy="170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Transforming Business Strategy into Scalable Digital Solutions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3952577" y="3247132"/>
            <a:ext cx="466784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Senior IT &amp; Digital Transformation Leader · Emirates National Facilities Management, Dubai, UAE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52577" y="3829720"/>
            <a:ext cx="1663973" cy="257994"/>
          </a:xfrm>
          <a:prstGeom prst="roundRect">
            <a:avLst>
              <a:gd name="adj" fmla="val 6524"/>
            </a:avLst>
          </a:prstGeom>
          <a:solidFill>
            <a:srgbClr val="4C0107"/>
          </a:solidFill>
          <a:ln/>
        </p:spPr>
      </p:sp>
      <p:sp>
        <p:nvSpPr>
          <p:cNvPr id="7" name="Text 4"/>
          <p:cNvSpPr/>
          <p:nvPr/>
        </p:nvSpPr>
        <p:spPr>
          <a:xfrm>
            <a:off x="4036665" y="3871764"/>
            <a:ext cx="1952997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ENTERPRISE APPLICATIONS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686648" y="3829720"/>
            <a:ext cx="1667545" cy="257994"/>
          </a:xfrm>
          <a:prstGeom prst="roundRect">
            <a:avLst>
              <a:gd name="adj" fmla="val 6524"/>
            </a:avLst>
          </a:prstGeom>
          <a:solidFill>
            <a:srgbClr val="4C0107"/>
          </a:solidFill>
          <a:ln/>
        </p:spPr>
      </p:sp>
      <p:sp>
        <p:nvSpPr>
          <p:cNvPr id="9" name="Text 6"/>
          <p:cNvSpPr/>
          <p:nvPr/>
        </p:nvSpPr>
        <p:spPr>
          <a:xfrm>
            <a:off x="5770736" y="3871764"/>
            <a:ext cx="1956569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DIGITAL TRANSFORMATION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52577" y="4157811"/>
            <a:ext cx="1308571" cy="257994"/>
          </a:xfrm>
          <a:prstGeom prst="roundRect">
            <a:avLst>
              <a:gd name="adj" fmla="val 6524"/>
            </a:avLst>
          </a:prstGeom>
          <a:solidFill>
            <a:srgbClr val="4C0107"/>
          </a:solidFill>
          <a:ln/>
        </p:spPr>
      </p:sp>
      <p:sp>
        <p:nvSpPr>
          <p:cNvPr id="11" name="Text 8"/>
          <p:cNvSpPr/>
          <p:nvPr/>
        </p:nvSpPr>
        <p:spPr>
          <a:xfrm>
            <a:off x="4036665" y="4199855"/>
            <a:ext cx="1597596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STRATEGY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331247" y="4157811"/>
            <a:ext cx="1169194" cy="257994"/>
          </a:xfrm>
          <a:prstGeom prst="roundRect">
            <a:avLst>
              <a:gd name="adj" fmla="val 6524"/>
            </a:avLst>
          </a:prstGeom>
          <a:solidFill>
            <a:srgbClr val="4C0107"/>
          </a:solidFill>
          <a:ln/>
        </p:spPr>
      </p:sp>
      <p:sp>
        <p:nvSpPr>
          <p:cNvPr id="13" name="Text 10"/>
          <p:cNvSpPr/>
          <p:nvPr/>
        </p:nvSpPr>
        <p:spPr>
          <a:xfrm>
            <a:off x="5415335" y="4199855"/>
            <a:ext cx="1458218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AI &amp; AUTOMATION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4429"/>
            <a:ext cx="8096845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Executive Impact at a Glance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23577" y="905247"/>
            <a:ext cx="8096845" cy="305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PMP</a:t>
            </a:r>
            <a:r>
              <a:rPr lang="en-US" sz="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®</a:t>
            </a: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-certified technology leader with 14+ years delivering enterprise digital transformation across Facilities Management, Real Estate, HR, Finance, and Operations — reporting directly to the CEO at ENFM.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1350987"/>
            <a:ext cx="4000128" cy="354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14+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817489"/>
            <a:ext cx="4000128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Years of Experience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20295" y="1350987"/>
            <a:ext cx="4000128" cy="354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AED 7M+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4620295" y="1817489"/>
            <a:ext cx="4000128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Transformation Portfolio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23577" y="2183904"/>
            <a:ext cx="4000128" cy="354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4,200+</a:t>
            </a:r>
            <a:endParaRPr lang="en-US" sz="2750" dirty="0"/>
          </a:p>
        </p:txBody>
      </p:sp>
      <p:sp>
        <p:nvSpPr>
          <p:cNvPr id="9" name="Text 7"/>
          <p:cNvSpPr/>
          <p:nvPr/>
        </p:nvSpPr>
        <p:spPr>
          <a:xfrm>
            <a:off x="523577" y="2650406"/>
            <a:ext cx="4000128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Employees Supported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20295" y="2183904"/>
            <a:ext cx="4000128" cy="354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200+</a:t>
            </a:r>
            <a:endParaRPr lang="en-US" sz="2750" dirty="0"/>
          </a:p>
        </p:txBody>
      </p:sp>
      <p:sp>
        <p:nvSpPr>
          <p:cNvPr id="11" name="Text 9"/>
          <p:cNvSpPr/>
          <p:nvPr/>
        </p:nvSpPr>
        <p:spPr>
          <a:xfrm>
            <a:off x="4620295" y="2650406"/>
            <a:ext cx="4000128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Operational Sites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3577" y="3016821"/>
            <a:ext cx="4000128" cy="354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1,000+</a:t>
            </a:r>
            <a:endParaRPr lang="en-US" sz="2750" dirty="0"/>
          </a:p>
        </p:txBody>
      </p:sp>
      <p:sp>
        <p:nvSpPr>
          <p:cNvPr id="13" name="Text 11"/>
          <p:cNvSpPr/>
          <p:nvPr/>
        </p:nvSpPr>
        <p:spPr>
          <a:xfrm>
            <a:off x="523577" y="3483322"/>
            <a:ext cx="4000128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Enterprise Vendors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20295" y="3016821"/>
            <a:ext cx="4000128" cy="354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50+</a:t>
            </a:r>
            <a:endParaRPr lang="en-US" sz="2750" dirty="0"/>
          </a:p>
        </p:txBody>
      </p:sp>
      <p:sp>
        <p:nvSpPr>
          <p:cNvPr id="15" name="Text 13"/>
          <p:cNvSpPr/>
          <p:nvPr/>
        </p:nvSpPr>
        <p:spPr>
          <a:xfrm>
            <a:off x="4620295" y="3483322"/>
            <a:ext cx="4000128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Enterprise Modules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3577" y="3849737"/>
            <a:ext cx="4000128" cy="354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20+</a:t>
            </a:r>
            <a:endParaRPr lang="en-US" sz="2750" dirty="0"/>
          </a:p>
        </p:txBody>
      </p:sp>
      <p:sp>
        <p:nvSpPr>
          <p:cNvPr id="17" name="Text 15"/>
          <p:cNvSpPr/>
          <p:nvPr/>
        </p:nvSpPr>
        <p:spPr>
          <a:xfrm>
            <a:off x="523577" y="4316239"/>
            <a:ext cx="4000128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Enterprise Integrations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20295" y="3849737"/>
            <a:ext cx="4000128" cy="354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30+</a:t>
            </a:r>
            <a:endParaRPr lang="en-US" sz="2750" dirty="0"/>
          </a:p>
        </p:txBody>
      </p:sp>
      <p:sp>
        <p:nvSpPr>
          <p:cNvPr id="19" name="Text 17"/>
          <p:cNvSpPr/>
          <p:nvPr/>
        </p:nvSpPr>
        <p:spPr>
          <a:xfrm>
            <a:off x="4620295" y="4316239"/>
            <a:ext cx="4000128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REST APIs Delivered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3577" y="4561284"/>
            <a:ext cx="855404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Teams led: 25–35 cross-functional professionals · Annual IT Budget: AED 2.3M · 15+ enterprise applications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5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11435"/>
            <a:ext cx="4667845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Career Transformation Journey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52577" y="942529"/>
            <a:ext cx="4667845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Each role expanded responsibilities from technical expertise to enterprise leadership, building the capability to lead large-scale digital transformation.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094559" y="1434554"/>
            <a:ext cx="14288" cy="3299371"/>
          </a:xfrm>
          <a:prstGeom prst="roundRect">
            <a:avLst>
              <a:gd name="adj" fmla="val 132527"/>
            </a:avLst>
          </a:prstGeom>
          <a:solidFill>
            <a:srgbClr val="48446D"/>
          </a:solidFill>
          <a:ln/>
        </p:spPr>
      </p:sp>
      <p:sp>
        <p:nvSpPr>
          <p:cNvPr id="6" name="Shape 3"/>
          <p:cNvSpPr/>
          <p:nvPr/>
        </p:nvSpPr>
        <p:spPr>
          <a:xfrm>
            <a:off x="4222254" y="1569393"/>
            <a:ext cx="378693" cy="14288"/>
          </a:xfrm>
          <a:prstGeom prst="roundRect">
            <a:avLst>
              <a:gd name="adj" fmla="val 132527"/>
            </a:avLst>
          </a:prstGeom>
          <a:solidFill>
            <a:srgbClr val="48446D"/>
          </a:solidFill>
          <a:ln/>
        </p:spPr>
      </p:sp>
      <p:sp>
        <p:nvSpPr>
          <p:cNvPr id="7" name="Shape 4"/>
          <p:cNvSpPr/>
          <p:nvPr/>
        </p:nvSpPr>
        <p:spPr>
          <a:xfrm>
            <a:off x="3952577" y="1434554"/>
            <a:ext cx="283964" cy="283964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8" name="Text 5"/>
          <p:cNvSpPr/>
          <p:nvPr/>
        </p:nvSpPr>
        <p:spPr>
          <a:xfrm>
            <a:off x="4005486" y="1465176"/>
            <a:ext cx="178147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25739" y="1477938"/>
            <a:ext cx="389468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2012–2014 · Software Engineer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25739" y="1727448"/>
            <a:ext cx="3894683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Suntech Business Solutions — Enterprise software development, .NET, SQL Server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22254" y="2447479"/>
            <a:ext cx="378693" cy="14288"/>
          </a:xfrm>
          <a:prstGeom prst="roundRect">
            <a:avLst>
              <a:gd name="adj" fmla="val 132527"/>
            </a:avLst>
          </a:prstGeom>
          <a:solidFill>
            <a:srgbClr val="48446D"/>
          </a:solidFill>
          <a:ln/>
        </p:spPr>
      </p:sp>
      <p:sp>
        <p:nvSpPr>
          <p:cNvPr id="12" name="Shape 9"/>
          <p:cNvSpPr/>
          <p:nvPr/>
        </p:nvSpPr>
        <p:spPr>
          <a:xfrm>
            <a:off x="3952577" y="2312640"/>
            <a:ext cx="283964" cy="283964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13" name="Text 10"/>
          <p:cNvSpPr/>
          <p:nvPr/>
        </p:nvSpPr>
        <p:spPr>
          <a:xfrm>
            <a:off x="4005486" y="2343262"/>
            <a:ext cx="178147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25739" y="2356024"/>
            <a:ext cx="389468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2014–2017 · ERP Consultant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725739" y="2605534"/>
            <a:ext cx="3894683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Realtime Technologies — ERP implementation, business process mapping, client consulting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22254" y="3325564"/>
            <a:ext cx="378693" cy="14288"/>
          </a:xfrm>
          <a:prstGeom prst="roundRect">
            <a:avLst>
              <a:gd name="adj" fmla="val 132527"/>
            </a:avLst>
          </a:prstGeom>
          <a:solidFill>
            <a:srgbClr val="48446D"/>
          </a:solidFill>
          <a:ln/>
        </p:spPr>
      </p:sp>
      <p:sp>
        <p:nvSpPr>
          <p:cNvPr id="17" name="Shape 14"/>
          <p:cNvSpPr/>
          <p:nvPr/>
        </p:nvSpPr>
        <p:spPr>
          <a:xfrm>
            <a:off x="3952577" y="3190726"/>
            <a:ext cx="283964" cy="283964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18" name="Text 15"/>
          <p:cNvSpPr/>
          <p:nvPr/>
        </p:nvSpPr>
        <p:spPr>
          <a:xfrm>
            <a:off x="4005486" y="3221348"/>
            <a:ext cx="178147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25739" y="3234110"/>
            <a:ext cx="389468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2017–2021 · Product Consultant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725739" y="3483620"/>
            <a:ext cx="3894683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Lattice Software Solutions — Product strategy, solution architecture, customer success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222254" y="4203650"/>
            <a:ext cx="378693" cy="14288"/>
          </a:xfrm>
          <a:prstGeom prst="roundRect">
            <a:avLst>
              <a:gd name="adj" fmla="val 132527"/>
            </a:avLst>
          </a:prstGeom>
          <a:solidFill>
            <a:srgbClr val="48446D"/>
          </a:solidFill>
          <a:ln/>
        </p:spPr>
      </p:sp>
      <p:sp>
        <p:nvSpPr>
          <p:cNvPr id="22" name="Shape 19"/>
          <p:cNvSpPr/>
          <p:nvPr/>
        </p:nvSpPr>
        <p:spPr>
          <a:xfrm>
            <a:off x="3952577" y="4068812"/>
            <a:ext cx="283964" cy="283964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23" name="Text 20"/>
          <p:cNvSpPr/>
          <p:nvPr/>
        </p:nvSpPr>
        <p:spPr>
          <a:xfrm>
            <a:off x="4005486" y="4099433"/>
            <a:ext cx="178147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25739" y="4112196"/>
            <a:ext cx="389468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2021–Present · Senior IT Manager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725739" y="4361706"/>
            <a:ext cx="3894683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ENFM — Enterprise technology strategy, digital transformation, AI &amp;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23788"/>
            <a:ext cx="466784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EnFM360: Enterprise Digital Transformation Platform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952577" y="1385515"/>
            <a:ext cx="4667845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Proposed, sponsored, and led the development of an in-house enterprise platform replacing fragmented systems with one integrated ecosystem — covering Finance, HR, Procurement, Operations, CRM, Asset Management, Mobile Apps, and AI-ready capabilities.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52577" y="2325067"/>
            <a:ext cx="2274615" cy="1339528"/>
          </a:xfrm>
          <a:prstGeom prst="roundRect">
            <a:avLst>
              <a:gd name="adj" fmla="val 1492"/>
            </a:avLst>
          </a:prstGeom>
          <a:solidFill>
            <a:srgbClr val="2F2B54"/>
          </a:solidFill>
          <a:ln/>
        </p:spPr>
      </p:sp>
      <p:sp>
        <p:nvSpPr>
          <p:cNvPr id="6" name="Text 3"/>
          <p:cNvSpPr/>
          <p:nvPr/>
        </p:nvSpPr>
        <p:spPr>
          <a:xfrm>
            <a:off x="4085779" y="2458269"/>
            <a:ext cx="20082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Build vs. Buy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85779" y="2725341"/>
            <a:ext cx="2008212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Eliminated vendor lock-in, reduced licensing costs, and aligned technology to ENFM's unique business processes.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45808" y="2325067"/>
            <a:ext cx="2274615" cy="1339528"/>
          </a:xfrm>
          <a:prstGeom prst="roundRect">
            <a:avLst>
              <a:gd name="adj" fmla="val 1492"/>
            </a:avLst>
          </a:prstGeom>
          <a:solidFill>
            <a:srgbClr val="2F2B54"/>
          </a:solidFill>
          <a:ln/>
        </p:spPr>
      </p:sp>
      <p:sp>
        <p:nvSpPr>
          <p:cNvPr id="9" name="Text 6"/>
          <p:cNvSpPr/>
          <p:nvPr/>
        </p:nvSpPr>
        <p:spPr>
          <a:xfrm>
            <a:off x="6479009" y="2458269"/>
            <a:ext cx="20082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Portfolio Scale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79009" y="2725341"/>
            <a:ext cx="2008212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AED 7M+ · 25–35 team members · 2022–Present · CEO Executive Sponsor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52577" y="3783211"/>
            <a:ext cx="4667845" cy="936501"/>
          </a:xfrm>
          <a:prstGeom prst="roundRect">
            <a:avLst>
              <a:gd name="adj" fmla="val 2134"/>
            </a:avLst>
          </a:prstGeom>
          <a:solidFill>
            <a:srgbClr val="2F2B54"/>
          </a:solidFill>
          <a:ln/>
        </p:spPr>
      </p:sp>
      <p:sp>
        <p:nvSpPr>
          <p:cNvPr id="12" name="Text 9"/>
          <p:cNvSpPr/>
          <p:nvPr/>
        </p:nvSpPr>
        <p:spPr>
          <a:xfrm>
            <a:off x="4085779" y="3916412"/>
            <a:ext cx="440144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Business Objectives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85779" y="4183484"/>
            <a:ext cx="4401443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Unified platform, digitized processes, real-time dashboards, mobile-first operations, AI-ready architecture.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EnFM360: Enterprise Architecture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731118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994" y="2393975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One Platform. One Data Model. One Ecosystem.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7994" y="2541315"/>
            <a:ext cx="3957191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Modular, API-driven architecture on Microsoft Azure with SQL Server, Power BI, and 30+ REST APIs. Built with role-based access control, audit trails, and ISO 27001 alignment.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7994" y="2754437"/>
            <a:ext cx="39571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Business-centric, modular design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Cloud-ready &amp; AI-ready foundation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Single source of truth across 200+ sites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8019"/>
            <a:ext cx="80968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EnFM360: Business Capabilities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23577" y="1027584"/>
            <a:ext cx="809684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EnFM360 digitized every major business function — enabling seamless data flow, automation, governance, and real-time decision-making across ENFM.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505396"/>
            <a:ext cx="309711" cy="309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1943323"/>
            <a:ext cx="39842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3577" y="2187029"/>
            <a:ext cx="398427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CAFM, Work Orders, PPM, Asset Management, Technician Scheduling, SLA Monitoring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6071" y="1505396"/>
            <a:ext cx="309711" cy="3097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36071" y="1943323"/>
            <a:ext cx="398435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Finance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636071" y="2187029"/>
            <a:ext cx="398435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AR/AP, Budget Management, P&amp;L, Financial Dashboards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2754585"/>
            <a:ext cx="309711" cy="3097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577" y="3192512"/>
            <a:ext cx="39842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Human Resources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23577" y="3436218"/>
            <a:ext cx="398427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Payroll, Leave, Attendance, ESS, HR Ticketing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6071" y="2754585"/>
            <a:ext cx="309711" cy="3097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36071" y="3192512"/>
            <a:ext cx="398435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636071" y="3436218"/>
            <a:ext cx="398435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PR/PO, Vendor Portal, Inventory, GRN, Invoice Management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77" y="3822576"/>
            <a:ext cx="309711" cy="30971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577" y="4260503"/>
            <a:ext cx="39842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Customer Experience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23577" y="4504209"/>
            <a:ext cx="398427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Customer Portal, Mobile App, Service Requests, SLA Monitoring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6071" y="3822576"/>
            <a:ext cx="309711" cy="30971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36071" y="4260503"/>
            <a:ext cx="398435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Executive Management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636071" y="4504209"/>
            <a:ext cx="398435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Power BI Dashboards, KPI Monitoring, 100+ Business Reports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109"/>
            <a:ext cx="8096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EnFM360: Business Impact &amp; Results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362745"/>
            <a:ext cx="5159127" cy="2923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3932" y="1025500"/>
            <a:ext cx="264117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Measurable Business Outcomes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3932" y="1302990"/>
            <a:ext cx="2641178" cy="190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1000"/>
              </a:lnSpc>
              <a:buSzPct val="100000"/>
              <a:buChar char="•"/>
            </a:pPr>
            <a:r>
              <a:rPr lang="en-US" sz="9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~40%</a:t>
            </a: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reduction in manual business processes</a:t>
            </a:r>
            <a:endParaRPr lang="en-US" sz="950" dirty="0"/>
          </a:p>
          <a:p>
            <a:pPr marL="193040" indent="-193040" algn="l">
              <a:lnSpc>
                <a:spcPct val="121000"/>
              </a:lnSpc>
              <a:buSzPct val="100000"/>
              <a:buChar char="•"/>
            </a:pPr>
            <a:r>
              <a:rPr lang="en-US" sz="9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~35%</a:t>
            </a: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improvement in customer response times</a:t>
            </a:r>
            <a:endParaRPr lang="en-US" sz="950" dirty="0"/>
          </a:p>
          <a:p>
            <a:pPr marL="193040" indent="-193040" algn="l">
              <a:lnSpc>
                <a:spcPct val="121000"/>
              </a:lnSpc>
              <a:buSzPct val="100000"/>
              <a:buChar char="•"/>
            </a:pPr>
            <a:r>
              <a:rPr lang="en-US" sz="9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~30%</a:t>
            </a: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improvement in IT incident resolution efficiency</a:t>
            </a:r>
            <a:endParaRPr lang="en-US" sz="950" dirty="0"/>
          </a:p>
          <a:p>
            <a:pPr marL="193040" indent="-193040" algn="l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Enterprise-wide digital approvals &amp; paperless workflows</a:t>
            </a:r>
            <a:endParaRPr lang="en-US" sz="950" dirty="0"/>
          </a:p>
          <a:p>
            <a:pPr marL="193040" indent="-193040" algn="l">
              <a:lnSpc>
                <a:spcPct val="12100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Reduced technology costs through platform consolidation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983932" y="3315072"/>
            <a:ext cx="2641178" cy="1296144"/>
          </a:xfrm>
          <a:prstGeom prst="roundRect">
            <a:avLst>
              <a:gd name="adj" fmla="val 1407"/>
            </a:avLst>
          </a:prstGeom>
          <a:solidFill>
            <a:srgbClr val="183A1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451" y="3474913"/>
            <a:ext cx="151879" cy="12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8848" y="3434283"/>
            <a:ext cx="2124745" cy="1057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"EnFM360 was more than a technology project — it was a business transformation program that fundamentally changed how the organization operates, collaborates, and delivers value."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2736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Strategic Initiatives &amp; Technology Ecosystem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766590"/>
            <a:ext cx="1092622" cy="6752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628826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PayDay HRMS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938537"/>
            <a:ext cx="188394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AED 450K · 4,200+ employees · Centralized HR, payroll automation, UAE WPS compliance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521" y="1766590"/>
            <a:ext cx="1092622" cy="6752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94521" y="2628826"/>
            <a:ext cx="188394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Vendor &amp; Customer Portals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94521" y="3158505"/>
            <a:ext cx="188394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1,000+ vendors connected digitally; real-time customer self-service with SLA visibility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464" y="1766590"/>
            <a:ext cx="1092622" cy="6752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5464" y="2628826"/>
            <a:ext cx="188394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Approval App &amp; Power BI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5464" y="3158505"/>
            <a:ext cx="188394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Mobile executive approvals; 20+ Power BI dashboards, 100+ reports enterprise-wide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407" y="1766590"/>
            <a:ext cx="1092696" cy="6753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36407" y="2628900"/>
            <a:ext cx="188401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AI &amp; Automation Strategy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36407" y="3158579"/>
            <a:ext cx="188401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AI-ready architecture, predictive analytics, digital workflows, and intelligent automation roadmap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35546"/>
            <a:ext cx="4667845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Awards, Certifications &amp; Why Organizations Choose Me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523577" y="1260053"/>
            <a:ext cx="2288232" cy="1401887"/>
          </a:xfrm>
          <a:prstGeom prst="roundRect">
            <a:avLst>
              <a:gd name="adj" fmla="val 1251"/>
            </a:avLst>
          </a:prstGeom>
          <a:solidFill>
            <a:srgbClr val="2F2B54"/>
          </a:solidFill>
          <a:ln/>
        </p:spPr>
      </p:sp>
      <p:sp>
        <p:nvSpPr>
          <p:cNvPr id="5" name="Shape 2"/>
          <p:cNvSpPr/>
          <p:nvPr/>
        </p:nvSpPr>
        <p:spPr>
          <a:xfrm>
            <a:off x="640407" y="1376883"/>
            <a:ext cx="350639" cy="350639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848" y="1473324"/>
            <a:ext cx="157758" cy="1577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407" y="1818829"/>
            <a:ext cx="2054572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Technology &amp; Innovation 2025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40407" y="2045494"/>
            <a:ext cx="2054572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Enterprise applications, mobile platforms, automation &amp; digital transformation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903116" y="1260053"/>
            <a:ext cx="2288307" cy="1401887"/>
          </a:xfrm>
          <a:prstGeom prst="roundRect">
            <a:avLst>
              <a:gd name="adj" fmla="val 1251"/>
            </a:avLst>
          </a:prstGeom>
          <a:solidFill>
            <a:srgbClr val="2F2B54"/>
          </a:solidFill>
          <a:ln/>
        </p:spPr>
      </p:sp>
      <p:sp>
        <p:nvSpPr>
          <p:cNvPr id="10" name="Shape 6"/>
          <p:cNvSpPr/>
          <p:nvPr/>
        </p:nvSpPr>
        <p:spPr>
          <a:xfrm>
            <a:off x="3019946" y="1376883"/>
            <a:ext cx="350639" cy="350639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16387" y="1473324"/>
            <a:ext cx="157758" cy="1577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19946" y="1818829"/>
            <a:ext cx="205464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Digital Transformation 2024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019946" y="2045494"/>
            <a:ext cx="2054647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Recognized for leading ENFM's most significant digital transformation via EnFM360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23577" y="2753246"/>
            <a:ext cx="4667845" cy="1068809"/>
          </a:xfrm>
          <a:prstGeom prst="roundRect">
            <a:avLst>
              <a:gd name="adj" fmla="val 1640"/>
            </a:avLst>
          </a:prstGeom>
          <a:solidFill>
            <a:srgbClr val="2F2B54"/>
          </a:solidFill>
          <a:ln/>
        </p:spPr>
      </p:sp>
      <p:sp>
        <p:nvSpPr>
          <p:cNvPr id="15" name="Shape 10"/>
          <p:cNvSpPr/>
          <p:nvPr/>
        </p:nvSpPr>
        <p:spPr>
          <a:xfrm>
            <a:off x="640407" y="2870076"/>
            <a:ext cx="350639" cy="350639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6848" y="2966517"/>
            <a:ext cx="157758" cy="1577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407" y="3312021"/>
            <a:ext cx="4434185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Technology Implementation 2024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640407" y="3538686"/>
            <a:ext cx="443418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Enterprise-wide technology delivery with measurable operational improvements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23577" y="3924746"/>
            <a:ext cx="4667845" cy="783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Certifications:</a:t>
            </a: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PMP</a:t>
            </a: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®</a:t>
            </a: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· PMI Member · Generative AI for Project Managers · Microsoft &amp; AI Learning</a:t>
            </a:r>
            <a:endParaRPr lang="en-US" sz="9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Differentiators:</a:t>
            </a: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Business-first mindset · Bridges executives &amp; IT · Builds enterprise platforms · Drives change across people, process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25202"/>
            <a:ext cx="4667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Let's Build the Future Together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52577" y="1034876"/>
            <a:ext cx="4667845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Thank you for reviewing my Executive Leadership Portfolio. I look forward to discussing how my experience can contribute to your organization's technology strategy and long-term business success.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52577" y="1834828"/>
            <a:ext cx="1468264" cy="1038374"/>
          </a:xfrm>
          <a:prstGeom prst="roundRect">
            <a:avLst>
              <a:gd name="adj" fmla="val 2026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1823" y="1994074"/>
            <a:ext cx="114977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📍</a:t>
            </a: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Location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11823" y="2279228"/>
            <a:ext cx="1149772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Dubai, United Arab Emirates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52331" y="1834828"/>
            <a:ext cx="1468264" cy="1038374"/>
          </a:xfrm>
          <a:prstGeom prst="roundRect">
            <a:avLst>
              <a:gd name="adj" fmla="val 2026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1577" y="1994074"/>
            <a:ext cx="114977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📧</a:t>
            </a: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Email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11577" y="2279228"/>
            <a:ext cx="1149772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ankurthakkar8@gmail.com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52084" y="1834828"/>
            <a:ext cx="1468264" cy="1038374"/>
          </a:xfrm>
          <a:prstGeom prst="roundRect">
            <a:avLst>
              <a:gd name="adj" fmla="val 2026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1330" y="1994074"/>
            <a:ext cx="114977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📱</a:t>
            </a: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Phone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1330" y="2279228"/>
            <a:ext cx="1149772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+971 50 100 2801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52577" y="3004691"/>
            <a:ext cx="4667771" cy="821010"/>
          </a:xfrm>
          <a:prstGeom prst="roundRect">
            <a:avLst>
              <a:gd name="adj" fmla="val 2563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1823" y="3163937"/>
            <a:ext cx="434927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🔗</a:t>
            </a: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LinkedIn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111823" y="3449092"/>
            <a:ext cx="434927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linkedin.com/in/ankur-thakkar-b84a321a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52577" y="3973562"/>
            <a:ext cx="19050" cy="744736"/>
          </a:xfrm>
          <a:prstGeom prst="roundRect">
            <a:avLst>
              <a:gd name="adj" fmla="val 60000"/>
            </a:avLst>
          </a:prstGeom>
          <a:solidFill>
            <a:srgbClr val="FD505F"/>
          </a:solidFill>
          <a:ln/>
        </p:spPr>
      </p:sp>
      <p:sp>
        <p:nvSpPr>
          <p:cNvPr id="18" name="Text 15"/>
          <p:cNvSpPr/>
          <p:nvPr/>
        </p:nvSpPr>
        <p:spPr>
          <a:xfrm>
            <a:off x="4162946" y="4121423"/>
            <a:ext cx="4457477" cy="449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"Technology is most powerful when it enables people, transforms businesses, and creates lasting value." — </a:t>
            </a:r>
            <a:r>
              <a:rPr lang="en-US" sz="11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Ankur Thakkar, PMP</a:t>
            </a: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®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</Words>
  <Application>Microsoft Office PowerPoint</Application>
  <PresentationFormat>On-screen Show (16:9)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Martel Sans Bold</vt:lpstr>
      <vt:lpstr>Kanit</vt:lpstr>
      <vt:lpstr>Arial</vt:lpstr>
      <vt:lpstr>Martel Sans Light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ankur thakkar</cp:lastModifiedBy>
  <cp:revision>1</cp:revision>
  <dcterms:created xsi:type="dcterms:W3CDTF">2026-07-08T15:29:41Z</dcterms:created>
  <dcterms:modified xsi:type="dcterms:W3CDTF">2026-07-08T15:31:36Z</dcterms:modified>
</cp:coreProperties>
</file>