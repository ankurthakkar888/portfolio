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91" r:id="rId2"/>
    <p:sldId id="319" r:id="rId3"/>
    <p:sldId id="325" r:id="rId4"/>
    <p:sldId id="326" r:id="rId5"/>
    <p:sldId id="329" r:id="rId6"/>
    <p:sldId id="327" r:id="rId7"/>
    <p:sldId id="328" r:id="rId8"/>
    <p:sldId id="331" r:id="rId9"/>
    <p:sldId id="330" r:id="rId10"/>
    <p:sldId id="332" r:id="rId11"/>
    <p:sldId id="334" r:id="rId12"/>
    <p:sldId id="336" r:id="rId13"/>
    <p:sldId id="338" r:id="rId14"/>
    <p:sldId id="339" r:id="rId15"/>
    <p:sldId id="337" r:id="rId16"/>
    <p:sldId id="333" r:id="rId17"/>
    <p:sldId id="335" r:id="rId18"/>
    <p:sldId id="340" r:id="rId19"/>
  </p:sldIdLst>
  <p:sldSz cx="18288000" cy="10287000"/>
  <p:notesSz cx="6858000" cy="9144000"/>
  <p:embeddedFontLst>
    <p:embeddedFont>
      <p:font typeface="Montserrat Bold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457" autoAdjust="0"/>
  </p:normalViewPr>
  <p:slideViewPr>
    <p:cSldViewPr>
      <p:cViewPr varScale="1">
        <p:scale>
          <a:sx n="60" d="100"/>
          <a:sy n="60" d="100"/>
        </p:scale>
        <p:origin x="13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56D50-0C09-4F00-AAF2-9B49F1EDCA3A}" type="datetimeFigureOut">
              <a:rPr lang="en-AE" smtClean="0"/>
              <a:t>17/06/2026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0DB90-1E2C-4D6D-9B87-3037F66BCE1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55728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4C89-99DC-A578-480B-089BDFA9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76A1928-D0EE-B8A5-79EC-F7BE17E7CCB9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F861573-0FDE-93F2-E633-C5D0610D2158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77D3D00-42D9-0244-0156-D61046DB1186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2C427CB-EB4B-18AD-ED07-125793FA9065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A92D159-AAFF-B97C-9AA1-964A28FAC886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D382E81-333B-8375-D4F1-B192B29D86DE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7D4A95C-E31F-C413-87EA-013BC5155CA8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7FCC9A8-AF04-391D-567F-DAE134CC4D0F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8B26CE7-C36C-B537-9BCB-133BBEB4C968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4310A3A-6D24-2CB4-6792-4653E16A176D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9" name="Picture 8" descr="Group of people communicating around a table">
            <a:extLst>
              <a:ext uri="{FF2B5EF4-FFF2-40B4-BE49-F238E27FC236}">
                <a16:creationId xmlns:a16="http://schemas.microsoft.com/office/drawing/2014/main" id="{FB6C90B9-A403-C21D-4CFA-BB969F04F2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728"/>
          <a:stretch>
            <a:fillRect/>
          </a:stretch>
        </p:blipFill>
        <p:spPr>
          <a:xfrm>
            <a:off x="2209800" y="2181904"/>
            <a:ext cx="13989674" cy="5721656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57F5A7-281B-AA40-282D-07F14CF3B8C5}"/>
              </a:ext>
            </a:extLst>
          </p:cNvPr>
          <p:cNvSpPr txBox="1">
            <a:spLocks/>
          </p:cNvSpPr>
          <p:nvPr/>
        </p:nvSpPr>
        <p:spPr>
          <a:xfrm>
            <a:off x="3226503" y="8408670"/>
            <a:ext cx="11460480" cy="1005840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300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2DB12BA-EE0D-7FE0-2201-37B7457512A3}"/>
              </a:ext>
            </a:extLst>
          </p:cNvPr>
          <p:cNvSpPr txBox="1">
            <a:spLocks/>
          </p:cNvSpPr>
          <p:nvPr/>
        </p:nvSpPr>
        <p:spPr>
          <a:xfrm>
            <a:off x="4549673" y="8138390"/>
            <a:ext cx="9309927" cy="58420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EnFM360 – Executive Board Presentation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DE16195-90FD-FDB1-EE64-C20DB77821BA}"/>
              </a:ext>
            </a:extLst>
          </p:cNvPr>
          <p:cNvSpPr txBox="1">
            <a:spLocks/>
          </p:cNvSpPr>
          <p:nvPr/>
        </p:nvSpPr>
        <p:spPr>
          <a:xfrm>
            <a:off x="3657548" y="8992871"/>
            <a:ext cx="10972903" cy="56229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 Key insights and strategies for executive leadership review</a:t>
            </a:r>
          </a:p>
        </p:txBody>
      </p:sp>
    </p:spTree>
    <p:extLst>
      <p:ext uri="{BB962C8B-B14F-4D97-AF65-F5344CB8AC3E}">
        <p14:creationId xmlns:p14="http://schemas.microsoft.com/office/powerpoint/2010/main" val="7592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AAE4-B1B0-AD88-8F55-5CE6DD9F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778ADC-24E2-F19D-7F51-03DE982051B0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4E62A6-F09A-B030-3B55-1823121750A8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A00E993-F5F2-DB05-13F4-48D11443E9F9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18AD05D-E852-78EA-FE0D-F6C7B66E2FCF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E55EDA7-0622-5286-1048-A597249377B6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A091078-0AF8-8A88-3A1B-B02C4AB290CE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81BC7498-970A-9F5F-1E4C-5B06663FC7F8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8361BE9-17C0-485B-BEE5-C4A08404FA53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44C4A7A-18BC-B30C-7352-76CB9BA631C4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7DAFBF6-09EB-A0C2-5DEC-F9CE0DA0C08B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8" name="Content Placeholder 4" descr="Bitcoin crypto currency payment system network concepts">
            <a:extLst>
              <a:ext uri="{FF2B5EF4-FFF2-40B4-BE49-F238E27FC236}">
                <a16:creationId xmlns:a16="http://schemas.microsoft.com/office/drawing/2014/main" id="{C57CEF6B-7221-3953-B822-AD3F764D00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21" r="15756" b="2"/>
          <a:stretch>
            <a:fillRect/>
          </a:stretch>
        </p:blipFill>
        <p:spPr>
          <a:xfrm>
            <a:off x="1536340" y="2767763"/>
            <a:ext cx="6808055" cy="6351645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2CBC8CB-3927-BEC5-101B-128C986C2C6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439400" y="2251868"/>
            <a:ext cx="6808055" cy="685403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Digital Transformation Platform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integrates core business functions into a unified platform, breaking down silos and improving visibility.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Real-Time Data Insights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The platform provides real-time data insights enabling leadership to make faster and more informed decisions.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Enhanced Governance and Compliance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Structured workflows and audit trails improve governance, accountability, and compliance across departments.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Strategic IT Role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IT evolves into a strategic enabler driving operational excellence, scalability, and digital maturity.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753C83-9E68-EF1D-F018-CE91D4DD5112}"/>
              </a:ext>
            </a:extLst>
          </p:cNvPr>
          <p:cNvSpPr txBox="1"/>
          <p:nvPr/>
        </p:nvSpPr>
        <p:spPr>
          <a:xfrm>
            <a:off x="1532540" y="1826561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IT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313173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5E1E-C3C7-8F73-176B-C64D4D2E8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6D9464F-57C6-1B4E-7E30-866CB452071C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F95D3A-6232-3BF4-C75B-0935420B2867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1E9997B-93F7-BF11-C0D9-F9E7C28E0786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5E81406-67D0-3AC7-5D5D-C69BD967E53B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34F3FB4-B0F4-FD0B-29F6-03C9F8F13064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0D9774-57EB-9AA9-E17D-AC286A29CA32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93DF4DAF-9AF7-1B68-0DAF-B60B2070A200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B7B4844-1D0F-4518-A6D2-8CDE9F1304D7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E33B93C-5EC5-98C3-8535-21A5F0D293DA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9B8A8FF-44B9-3A0A-2807-1707978D39C0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11" name="Content Placeholder 4" descr="technology and innovation concept">
            <a:extLst>
              <a:ext uri="{FF2B5EF4-FFF2-40B4-BE49-F238E27FC236}">
                <a16:creationId xmlns:a16="http://schemas.microsoft.com/office/drawing/2014/main" id="{061A099C-3313-0B39-9CEF-3FDB4CF240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65" r="9947"/>
          <a:stretch>
            <a:fillRect/>
          </a:stretch>
        </p:blipFill>
        <p:spPr>
          <a:xfrm>
            <a:off x="1247818" y="3009900"/>
            <a:ext cx="6829382" cy="6371542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5085519-07FD-36FE-CB05-F58DE2A43C29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210802" y="2675842"/>
            <a:ext cx="6688724" cy="67056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Centralized Digital Platform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replaced disconnected systems with a centralized digital platform boosting operational efficiency.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Automation and Workflow Streamlining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Automation has streamlined approvals, reduced errors, and increased processing speed across departments.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Enhanced Data Management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Centralized data management improved reporting and visibility for leadership across business units.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Governance and Compliance Controls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Structured approval workflows and audit trails strengthen accountability and compliance within the system.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6C33E-D6DA-5344-0038-33BA08927894}"/>
              </a:ext>
            </a:extLst>
          </p:cNvPr>
          <p:cNvSpPr txBox="1"/>
          <p:nvPr/>
        </p:nvSpPr>
        <p:spPr>
          <a:xfrm>
            <a:off x="1219579" y="1948303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Key Achievements</a:t>
            </a:r>
          </a:p>
        </p:txBody>
      </p:sp>
    </p:spTree>
    <p:extLst>
      <p:ext uri="{BB962C8B-B14F-4D97-AF65-F5344CB8AC3E}">
        <p14:creationId xmlns:p14="http://schemas.microsoft.com/office/powerpoint/2010/main" val="19577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81E0B-71AC-98A6-754D-22565C5E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26801FC-C42F-2200-8DFC-9928C28F226D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183542D-BCDF-46B4-AF6D-01F1268FDEA2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C402753-4936-B715-5126-85124745AA1A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F9B018C-BCDD-93D7-3361-DE31623BCE32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A83E466-6EC0-F714-6DAD-8F43420284C8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9A3952-E215-7FEA-BE84-36E28D6882FF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BF5FC818-36A5-4890-084E-BFF4FD47D2E2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C98BF81-7BAA-C344-2FD4-E2A8B21056A9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0AD0C2B-DE78-8EEC-03DF-989D2850C86E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E56CE63-3E78-2F99-77EF-80C4D1FFF316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8" name="Content Placeholder 4" descr="Business pictograms standing next to the CGI businessman. The pictogram set is designed by myself using Adobe Illustrator.">
            <a:extLst>
              <a:ext uri="{FF2B5EF4-FFF2-40B4-BE49-F238E27FC236}">
                <a16:creationId xmlns:a16="http://schemas.microsoft.com/office/drawing/2014/main" id="{9F6853CB-72D8-32A4-D8A4-01526EE59F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592" r="7115" b="-1"/>
          <a:stretch>
            <a:fillRect/>
          </a:stretch>
        </p:blipFill>
        <p:spPr>
          <a:xfrm>
            <a:off x="1676400" y="3042110"/>
            <a:ext cx="6513994" cy="6077298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CFB1D7B-7BA8-7B85-621F-5024DE69DAB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677400" y="2933700"/>
            <a:ext cx="7315200" cy="6542019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Technology-Driven Operating Model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enables streamlined processes and centralized data for real-time decision-making across the organization.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Improved Collaboration and Efficiency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Enhanced coordination reduces delays and minimizes manual errors, boosting service delivery and customer satisfaction.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Leadership Empowerment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Dashboards and analytics provide actionable insights, supporting proactive and strategic decision-making by leadership.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Financial and Strategic Benefits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Automation and efficiency improvements lead to cost optimization and stronger organizational agility in competitive markets.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5C8DA-0A31-6158-472F-5037F8587B13}"/>
              </a:ext>
            </a:extLst>
          </p:cNvPr>
          <p:cNvSpPr txBox="1"/>
          <p:nvPr/>
        </p:nvSpPr>
        <p:spPr>
          <a:xfrm>
            <a:off x="1543268" y="1894857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Strategic Value Delivered</a:t>
            </a:r>
          </a:p>
        </p:txBody>
      </p:sp>
    </p:spTree>
    <p:extLst>
      <p:ext uri="{BB962C8B-B14F-4D97-AF65-F5344CB8AC3E}">
        <p14:creationId xmlns:p14="http://schemas.microsoft.com/office/powerpoint/2010/main" val="84146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373F-CB14-0EF7-F9EB-18AAE6905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4B4BA7-0679-E7D8-67D0-BA5F1F4FF939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C2DAC3C-2512-D9AB-342F-DDC18790F94D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A0B44FB-0E8C-C423-1879-CB022A7B29BD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446C339-8D2F-887F-00D5-1F78D55F8C0F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B7D99FE-AFF4-F242-92E3-21B04B9983D0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7061511-EB10-A5F2-2E99-D3B763EA7C90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7C73A41-ECFB-0308-0508-0CD8F5E2DE88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67554D4-FE1F-9C39-DCFD-ADDC94593232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EC61D2E-A69A-C047-7291-9DF861013955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B774518-B892-FA6E-5EDE-48C7E5CDC8EC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8" name="Content Placeholder 4" descr="Modern data center and technology background">
            <a:extLst>
              <a:ext uri="{FF2B5EF4-FFF2-40B4-BE49-F238E27FC236}">
                <a16:creationId xmlns:a16="http://schemas.microsoft.com/office/drawing/2014/main" id="{E352E749-6C30-A472-D69B-44CA62562B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606" r="43755" b="1"/>
          <a:stretch>
            <a:fillRect/>
          </a:stretch>
        </p:blipFill>
        <p:spPr>
          <a:xfrm>
            <a:off x="1447799" y="2866535"/>
            <a:ext cx="6620511" cy="6176673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8DCB4D3-1F84-86A1-C72B-AE15C3F6C521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372600" y="2562971"/>
            <a:ext cx="8534400" cy="693420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Structured Workflows and Approvals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Predefined approval hierarchies enforce consistency and reduce unauthorized actions in business processes.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Comprehensive Audit Trails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Audit trails provide detailed records of transactions, enabling effective monitoring and compliance.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Role-Based Access Control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Access restrictions protect sensitive data by authorizing only specific personnel, enhancing security.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Centralized Monitoring and Proactive Governance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Centralized platform visibility enables early detection of discrepancies, fostering trust and integrity.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43AD7E-89FA-6660-C609-840EA71B28E6}"/>
              </a:ext>
            </a:extLst>
          </p:cNvPr>
          <p:cNvSpPr txBox="1"/>
          <p:nvPr/>
        </p:nvSpPr>
        <p:spPr>
          <a:xfrm>
            <a:off x="1336424" y="1837857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Governance &amp; Controls Framework</a:t>
            </a:r>
          </a:p>
        </p:txBody>
      </p:sp>
    </p:spTree>
    <p:extLst>
      <p:ext uri="{BB962C8B-B14F-4D97-AF65-F5344CB8AC3E}">
        <p14:creationId xmlns:p14="http://schemas.microsoft.com/office/powerpoint/2010/main" val="975982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F2B3-4214-DBF0-85C4-DCB92BC0D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DCDEA4C-BF3E-9C22-4233-A7325B2F1423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AF8197B-4E18-E83C-ACE2-BF8E5390666A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487D826-239D-F350-CC51-AFF371CB3F56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E9D88E0-0ED3-96CF-0FC0-020A8B5DC6D0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1CA6A69-AD2A-60EF-F3E4-2769E5FEAF4F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71ADF9F-6218-34EC-FCDC-6F8B03DA13A9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0DB2A889-6081-3226-D284-D673B4E6852E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7F8573-8686-EA5A-43E1-1CE5D487A4A7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798D523-C5B7-5A54-4E8F-EA7660357A1F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8DAD6FE-0E8C-BEFE-1532-CC9408678232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8" name="Content Placeholder 4" descr="Conceptual image representing mosaic media interface and the digital software. A wall of screens curves away from view, shimmering with an assortment of random graphics, animations and simple icon images.">
            <a:extLst>
              <a:ext uri="{FF2B5EF4-FFF2-40B4-BE49-F238E27FC236}">
                <a16:creationId xmlns:a16="http://schemas.microsoft.com/office/drawing/2014/main" id="{250D203E-4999-303F-3CEC-74153C0E540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10" r="9301"/>
          <a:stretch>
            <a:fillRect/>
          </a:stretch>
        </p:blipFill>
        <p:spPr>
          <a:xfrm>
            <a:off x="1389372" y="2987019"/>
            <a:ext cx="6125663" cy="5715000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ABAEC54-7F0B-C7BE-DF24-B18B6A19B2B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829800" y="2370489"/>
            <a:ext cx="7467600" cy="688781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Automation of Routine Tasks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Automation eliminates manual work, speeding up task completion and reducing human errors significantly.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Digital Approval Workflow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Approval processes are digitized, enabling real-time updates and streamlined communication across teams.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Resource Optimization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Improved visibility into workload distribution helps managers allocate resources effectively and address bottlenecks.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Standardized Processes and Productivity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Standardization ensures consistent operations and frees employees for strategic tasks, boosting productivity.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F25F8-72F5-8056-DC71-CB8999F91420}"/>
              </a:ext>
            </a:extLst>
          </p:cNvPr>
          <p:cNvSpPr txBox="1"/>
          <p:nvPr/>
        </p:nvSpPr>
        <p:spPr>
          <a:xfrm>
            <a:off x="1336424" y="1896608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Efficiency Gains</a:t>
            </a:r>
          </a:p>
        </p:txBody>
      </p:sp>
    </p:spTree>
    <p:extLst>
      <p:ext uri="{BB962C8B-B14F-4D97-AF65-F5344CB8AC3E}">
        <p14:creationId xmlns:p14="http://schemas.microsoft.com/office/powerpoint/2010/main" val="312358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B987D-E09B-1C89-1529-E81F1244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88E8DC9-8AF7-92C2-C3B7-F9BD3E0747E0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D6BCC6F-BC90-E68C-82FB-38AF2D48BA07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BF42D4C-435F-CF03-EEEF-041F5F7F3B46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2462B18-BD8D-A58D-8588-2758B0763319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D7D1FE2-77E4-3B0D-E1B8-8E8CFB005563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A05F529-BEAB-E567-520B-ABB3E51C8E96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CB778F47-91B6-B4EC-4359-14C61726747A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D2A6320-6F8F-19E4-3B4C-4049FAAB2EE0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F736BF-7F36-2279-5FA3-537D04458DE3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AB3425-2A02-9E8A-2D04-57E271BDBD4F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8" name="Content Placeholder 4" descr="Artificial Intelligence of Manhattan">
            <a:extLst>
              <a:ext uri="{FF2B5EF4-FFF2-40B4-BE49-F238E27FC236}">
                <a16:creationId xmlns:a16="http://schemas.microsoft.com/office/drawing/2014/main" id="{0F3FBA34-1471-7397-78A1-7DE7516DA6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026" r="18322" b="-2"/>
          <a:stretch>
            <a:fillRect/>
          </a:stretch>
        </p:blipFill>
        <p:spPr>
          <a:xfrm>
            <a:off x="1371600" y="3050644"/>
            <a:ext cx="6400800" cy="5971692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12E61A-8C99-DEC6-C4DA-CEABC107B3DB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379765" y="1967829"/>
            <a:ext cx="7086600" cy="784463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AI and Automation Integration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integrates AI and automation to provide predictive insights and smarter decision-making capabilities.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Digital Transformation Support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The platform supports digital transformation initiatives, including e-invoicing readiness and regulatory compliance in the UAE.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Modular and Scalable Design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EnFM360’s modular and scalable design allows continuous feature enhancements as business needs evolve.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Competitive Edge and Sustainability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Innovation investments position ENFM to improve efficiency, maintain competitiveness, and drive sustainable growth.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0B3AB-871D-CB6B-7973-34D4AE62C55A}"/>
              </a:ext>
            </a:extLst>
          </p:cNvPr>
          <p:cNvSpPr txBox="1"/>
          <p:nvPr/>
        </p:nvSpPr>
        <p:spPr>
          <a:xfrm>
            <a:off x="1219200" y="1967829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Innovation &amp; Future Outlook</a:t>
            </a:r>
          </a:p>
        </p:txBody>
      </p:sp>
    </p:spTree>
    <p:extLst>
      <p:ext uri="{BB962C8B-B14F-4D97-AF65-F5344CB8AC3E}">
        <p14:creationId xmlns:p14="http://schemas.microsoft.com/office/powerpoint/2010/main" val="2519231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87D7E-AF21-552B-1DFA-5580797EF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30E4EF5-8ECB-C0CC-7901-CDCF7A493C5D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C59342-6796-9CC9-D95D-05FE8EC588B0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3CF9143E-215D-99A9-9231-8017E8632B98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94874AD-6C1F-5243-0DD9-0BF9EB872434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4A3576A-E15A-C129-AFCA-B4D798150DE8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8DF2D78-1697-C25E-25ED-7E3A5B6F2D1F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ABE1309-8E18-2D0C-367E-0B9967D14D88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BDF051F-0054-92A0-B2E7-BF45419DE8DD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7CA313D-FC9E-1207-FF4E-93710DBEEDA8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3D1876A-56C2-0149-6388-8E31AFF648AA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8" name="Content Placeholder 4" descr="Driverless self drive autopilot vehicle">
            <a:extLst>
              <a:ext uri="{FF2B5EF4-FFF2-40B4-BE49-F238E27FC236}">
                <a16:creationId xmlns:a16="http://schemas.microsoft.com/office/drawing/2014/main" id="{7ADB5315-775D-4C7B-9F6E-0371407C70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174" r="16534" b="-1"/>
          <a:stretch>
            <a:fillRect/>
          </a:stretch>
        </p:blipFill>
        <p:spPr>
          <a:xfrm>
            <a:off x="1469337" y="2628900"/>
            <a:ext cx="7008360" cy="6538521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C4BFED9-4F9B-EBB0-2E57-7C67022AB030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668000" y="1562100"/>
            <a:ext cx="7391400" cy="7467600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Short-term Focus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Prioritize system stabilization, performance optimization, and user adoption for seamless daily operations integration.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Medium-term Strategy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Expand analytics, introduce advanced dashboards, and improve usability including mobile access and interfaces.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Long-term Vision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Integrate AI, predictive analytics, and IoT for smarter facility management and data-driven decision-making.</a:t>
            </a:r>
          </a:p>
          <a:p>
            <a:pPr marL="0" indent="0">
              <a:spcBef>
                <a:spcPts val="2500"/>
              </a:spcBef>
              <a:buFont typeface="Arial" pitchFamily="34" charset="0"/>
              <a:buNone/>
            </a:pPr>
            <a:r>
              <a:rPr lang="en-US" b="1" dirty="0"/>
              <a:t>Business Alignment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Align technology advancements with business goals to maintain agility and competitiveness in dynamic markets.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BBD6A2-BDE8-B206-9DFF-51FB3A9B8FC0}"/>
              </a:ext>
            </a:extLst>
          </p:cNvPr>
          <p:cNvSpPr txBox="1"/>
          <p:nvPr/>
        </p:nvSpPr>
        <p:spPr>
          <a:xfrm>
            <a:off x="1469337" y="1626722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IT Roadmap</a:t>
            </a:r>
          </a:p>
        </p:txBody>
      </p:sp>
    </p:spTree>
    <p:extLst>
      <p:ext uri="{BB962C8B-B14F-4D97-AF65-F5344CB8AC3E}">
        <p14:creationId xmlns:p14="http://schemas.microsoft.com/office/powerpoint/2010/main" val="337735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EE38-E2D6-2AEE-A346-DAEB46B3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AEAD25-23D8-7A38-4520-CA43511B00E2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036347-2CC9-661A-5CC6-02CE41EBF433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AC80983-2B38-5E20-00FA-BB248CDF6E53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C3D123E-6485-E58A-666F-12CCE6C86518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587625E-C217-2FAB-0D0D-D740C5702998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4EB7555-8045-9D83-F74A-DACDE26FE861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C55A8494-2667-7ED8-FDF2-49F0BB5B0F26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BC8242E-4D48-0E81-3A0E-AA08C58810FA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4DFF281-F1F4-336A-8BB5-8662799EEDEB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867A74A-5386-56F1-39EF-E6D66374D59F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A82F6CF-52A6-ACDB-08BE-77E63BC76CA0}"/>
              </a:ext>
            </a:extLst>
          </p:cNvPr>
          <p:cNvSpPr txBox="1">
            <a:spLocks/>
          </p:cNvSpPr>
          <p:nvPr/>
        </p:nvSpPr>
        <p:spPr>
          <a:xfrm>
            <a:off x="821326" y="2034019"/>
            <a:ext cx="6781799" cy="1068486"/>
          </a:xfrm>
          <a:prstGeom prst="rect">
            <a:avLst/>
          </a:prstGeom>
        </p:spPr>
        <p:txBody>
          <a:bodyPr anchor="t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/>
              <a:t>Business Transformation                      (Before vs After)</a:t>
            </a:r>
          </a:p>
        </p:txBody>
      </p:sp>
      <p:pic>
        <p:nvPicPr>
          <p:cNvPr id="9" name="Content Placeholder 4" descr="glass cubes on white background.">
            <a:extLst>
              <a:ext uri="{FF2B5EF4-FFF2-40B4-BE49-F238E27FC236}">
                <a16:creationId xmlns:a16="http://schemas.microsoft.com/office/drawing/2014/main" id="{3B30314E-8EAE-C54D-5525-87493B7420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3" r="11017" b="1"/>
          <a:stretch>
            <a:fillRect/>
          </a:stretch>
        </p:blipFill>
        <p:spPr>
          <a:xfrm>
            <a:off x="1828800" y="3619479"/>
            <a:ext cx="5647301" cy="4896416"/>
          </a:xfrm>
          <a:custGeom>
            <a:avLst/>
            <a:gdLst>
              <a:gd name="csX0" fmla="*/ 2259226 w 4522676"/>
              <a:gd name="csY0" fmla="*/ 0 h 4594598"/>
              <a:gd name="csX1" fmla="*/ 3190558 w 4522676"/>
              <a:gd name="csY1" fmla="*/ 81717 h 4594598"/>
              <a:gd name="csX2" fmla="*/ 4517651 w 4522676"/>
              <a:gd name="csY2" fmla="*/ 936534 h 4594598"/>
              <a:gd name="csX3" fmla="*/ 4431926 w 4522676"/>
              <a:gd name="csY3" fmla="*/ 1710842 h 4594598"/>
              <a:gd name="csX4" fmla="*/ 4432730 w 4522676"/>
              <a:gd name="csY4" fmla="*/ 1728468 h 4594598"/>
              <a:gd name="csX5" fmla="*/ 4521654 w 4522676"/>
              <a:gd name="csY5" fmla="*/ 2182714 h 4594598"/>
              <a:gd name="csX6" fmla="*/ 4435131 w 4522676"/>
              <a:gd name="csY6" fmla="*/ 3196162 h 4594598"/>
              <a:gd name="csX7" fmla="*/ 4296136 w 4522676"/>
              <a:gd name="csY7" fmla="*/ 4268092 h 4594598"/>
              <a:gd name="csX8" fmla="*/ 3498596 w 4522676"/>
              <a:gd name="csY8" fmla="*/ 4521652 h 4594598"/>
              <a:gd name="csX9" fmla="*/ 2663406 w 4522676"/>
              <a:gd name="csY9" fmla="*/ 4591354 h 4594598"/>
              <a:gd name="csX10" fmla="*/ 1524979 w 4522676"/>
              <a:gd name="csY10" fmla="*/ 4514444 h 4594598"/>
              <a:gd name="csX11" fmla="*/ 53681 w 4522676"/>
              <a:gd name="csY11" fmla="*/ 3964057 h 4594598"/>
              <a:gd name="csX12" fmla="*/ 89331 w 4522676"/>
              <a:gd name="csY12" fmla="*/ 2693843 h 4594598"/>
              <a:gd name="csX13" fmla="*/ 2 w 4522676"/>
              <a:gd name="csY13" fmla="*/ 2288465 h 4594598"/>
              <a:gd name="csX14" fmla="*/ 86929 w 4522676"/>
              <a:gd name="csY14" fmla="*/ 1543401 h 4594598"/>
              <a:gd name="csX15" fmla="*/ 39260 w 4522676"/>
              <a:gd name="csY15" fmla="*/ 721029 h 4594598"/>
              <a:gd name="csX16" fmla="*/ 1537398 w 4522676"/>
              <a:gd name="csY16" fmla="*/ 85321 h 4594598"/>
              <a:gd name="csX17" fmla="*/ 2259226 w 4522676"/>
              <a:gd name="csY17" fmla="*/ 0 h 459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522676" h="4594598">
                <a:moveTo>
                  <a:pt x="2259226" y="0"/>
                </a:moveTo>
                <a:cubicBezTo>
                  <a:pt x="2558853" y="6010"/>
                  <a:pt x="2882515" y="97740"/>
                  <a:pt x="3190558" y="81717"/>
                </a:cubicBezTo>
                <a:cubicBezTo>
                  <a:pt x="3801029" y="41660"/>
                  <a:pt x="4449551" y="204693"/>
                  <a:pt x="4517651" y="936534"/>
                </a:cubicBezTo>
                <a:cubicBezTo>
                  <a:pt x="4547291" y="1189700"/>
                  <a:pt x="4436334" y="1459683"/>
                  <a:pt x="4431926" y="1710842"/>
                </a:cubicBezTo>
                <a:cubicBezTo>
                  <a:pt x="4431926" y="1714846"/>
                  <a:pt x="4427923" y="1708037"/>
                  <a:pt x="4432730" y="1728468"/>
                </a:cubicBezTo>
                <a:cubicBezTo>
                  <a:pt x="4429525" y="1884688"/>
                  <a:pt x="4517651" y="2027292"/>
                  <a:pt x="4521654" y="2182714"/>
                </a:cubicBezTo>
                <a:cubicBezTo>
                  <a:pt x="4527264" y="2515989"/>
                  <a:pt x="4414705" y="2859682"/>
                  <a:pt x="4435131" y="3196162"/>
                </a:cubicBezTo>
                <a:cubicBezTo>
                  <a:pt x="4448353" y="3556676"/>
                  <a:pt x="4455162" y="3944030"/>
                  <a:pt x="4296136" y="4268092"/>
                </a:cubicBezTo>
                <a:cubicBezTo>
                  <a:pt x="4151526" y="4540480"/>
                  <a:pt x="3778997" y="4510836"/>
                  <a:pt x="3498596" y="4521652"/>
                </a:cubicBezTo>
                <a:cubicBezTo>
                  <a:pt x="3216994" y="4534471"/>
                  <a:pt x="2942603" y="4579734"/>
                  <a:pt x="2663406" y="4591354"/>
                </a:cubicBezTo>
                <a:cubicBezTo>
                  <a:pt x="2284463" y="4614185"/>
                  <a:pt x="1907127" y="4508834"/>
                  <a:pt x="1524979" y="4514444"/>
                </a:cubicBezTo>
                <a:cubicBezTo>
                  <a:pt x="1000232" y="4537675"/>
                  <a:pt x="192276" y="4610981"/>
                  <a:pt x="53681" y="3964057"/>
                </a:cubicBezTo>
                <a:cubicBezTo>
                  <a:pt x="-36447" y="3551066"/>
                  <a:pt x="104954" y="3112443"/>
                  <a:pt x="89331" y="2693843"/>
                </a:cubicBezTo>
                <a:cubicBezTo>
                  <a:pt x="86126" y="2558052"/>
                  <a:pt x="-397" y="2423860"/>
                  <a:pt x="2" y="2288465"/>
                </a:cubicBezTo>
                <a:cubicBezTo>
                  <a:pt x="2008" y="2042116"/>
                  <a:pt x="100147" y="1792160"/>
                  <a:pt x="86929" y="1543401"/>
                </a:cubicBezTo>
                <a:cubicBezTo>
                  <a:pt x="74111" y="1273019"/>
                  <a:pt x="-30441" y="985007"/>
                  <a:pt x="39260" y="721029"/>
                </a:cubicBezTo>
                <a:cubicBezTo>
                  <a:pt x="224726" y="-18024"/>
                  <a:pt x="908902" y="42862"/>
                  <a:pt x="1537398" y="85321"/>
                </a:cubicBezTo>
                <a:cubicBezTo>
                  <a:pt x="1783751" y="98139"/>
                  <a:pt x="2026495" y="803"/>
                  <a:pt x="2259226" y="0"/>
                </a:cubicBezTo>
                <a:close/>
              </a:path>
            </a:pathLst>
          </a:cu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0A59FB2-212D-325A-CDAD-F884796C715C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134600" y="2171700"/>
            <a:ext cx="7467600" cy="7010400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Pre-Implementation Challenges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Fragmented systems and manual workflows caused inefficiency, errors, and siloed data limiting operational visibility.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Post-Implementation Improvements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Centralized platform enabled real-time visibility, improved coordination, and faster decision-making across departments.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Workflow Automation Benefits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Automation reduced manual interventions, accelerated approvals, and enhanced process efficiency and accountability.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Overall Business Impact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Transformation to technology-driven model strengthened service consistency and operational excellence.</a:t>
            </a:r>
          </a:p>
        </p:txBody>
      </p:sp>
    </p:spTree>
    <p:extLst>
      <p:ext uri="{BB962C8B-B14F-4D97-AF65-F5344CB8AC3E}">
        <p14:creationId xmlns:p14="http://schemas.microsoft.com/office/powerpoint/2010/main" val="432463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8C3E8-27F3-D772-EC20-8ECEA5C4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546A57-2479-42EA-1FCC-81437CEAB5BF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CAF2C7-5908-DEF7-D6BB-E5F6405ECD27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3DE709F-2671-163D-9944-D0EFDAB7E673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1673ABC-7316-2BFB-8281-DA530B8831D0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0CC9DF6-255D-F5AA-91F1-D2E784EC34C1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75C6393-D38C-C842-5319-82CA7BA2F65E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19D46EB4-3B40-8A04-E8CB-3BC76AB10E8F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E3C1269-4793-AFAB-EFD3-A59D3785C8C2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39512D9-689F-B0A4-35C1-D9C9A1C1F2DC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DBF5D16-A5BB-920A-185A-E6D466D8A2FB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26D42FA-447F-6719-EA37-737E116C87A2}"/>
              </a:ext>
            </a:extLst>
          </p:cNvPr>
          <p:cNvSpPr txBox="1">
            <a:spLocks/>
          </p:cNvSpPr>
          <p:nvPr/>
        </p:nvSpPr>
        <p:spPr>
          <a:xfrm>
            <a:off x="2102840" y="1943100"/>
            <a:ext cx="4707359" cy="1068486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E-Invoicing Readiness</a:t>
            </a:r>
          </a:p>
        </p:txBody>
      </p:sp>
      <p:pic>
        <p:nvPicPr>
          <p:cNvPr id="9" name="Content Placeholder 4" descr="E-banking online electronic banking mobile phone">
            <a:extLst>
              <a:ext uri="{FF2B5EF4-FFF2-40B4-BE49-F238E27FC236}">
                <a16:creationId xmlns:a16="http://schemas.microsoft.com/office/drawing/2014/main" id="{EA83E3C0-8322-03FE-979A-3EC40B11FF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10" r="13902" b="-2"/>
          <a:stretch>
            <a:fillRect/>
          </a:stretch>
        </p:blipFill>
        <p:spPr>
          <a:xfrm>
            <a:off x="1162269" y="3162300"/>
            <a:ext cx="7143532" cy="6193703"/>
          </a:xfrm>
          <a:custGeom>
            <a:avLst/>
            <a:gdLst>
              <a:gd name="csX0" fmla="*/ 2259226 w 4522676"/>
              <a:gd name="csY0" fmla="*/ 0 h 4594598"/>
              <a:gd name="csX1" fmla="*/ 3190558 w 4522676"/>
              <a:gd name="csY1" fmla="*/ 81717 h 4594598"/>
              <a:gd name="csX2" fmla="*/ 4517651 w 4522676"/>
              <a:gd name="csY2" fmla="*/ 936534 h 4594598"/>
              <a:gd name="csX3" fmla="*/ 4431926 w 4522676"/>
              <a:gd name="csY3" fmla="*/ 1710842 h 4594598"/>
              <a:gd name="csX4" fmla="*/ 4432730 w 4522676"/>
              <a:gd name="csY4" fmla="*/ 1728468 h 4594598"/>
              <a:gd name="csX5" fmla="*/ 4521654 w 4522676"/>
              <a:gd name="csY5" fmla="*/ 2182714 h 4594598"/>
              <a:gd name="csX6" fmla="*/ 4435131 w 4522676"/>
              <a:gd name="csY6" fmla="*/ 3196162 h 4594598"/>
              <a:gd name="csX7" fmla="*/ 4296136 w 4522676"/>
              <a:gd name="csY7" fmla="*/ 4268092 h 4594598"/>
              <a:gd name="csX8" fmla="*/ 3498596 w 4522676"/>
              <a:gd name="csY8" fmla="*/ 4521652 h 4594598"/>
              <a:gd name="csX9" fmla="*/ 2663406 w 4522676"/>
              <a:gd name="csY9" fmla="*/ 4591354 h 4594598"/>
              <a:gd name="csX10" fmla="*/ 1524979 w 4522676"/>
              <a:gd name="csY10" fmla="*/ 4514444 h 4594598"/>
              <a:gd name="csX11" fmla="*/ 53681 w 4522676"/>
              <a:gd name="csY11" fmla="*/ 3964057 h 4594598"/>
              <a:gd name="csX12" fmla="*/ 89331 w 4522676"/>
              <a:gd name="csY12" fmla="*/ 2693843 h 4594598"/>
              <a:gd name="csX13" fmla="*/ 2 w 4522676"/>
              <a:gd name="csY13" fmla="*/ 2288465 h 4594598"/>
              <a:gd name="csX14" fmla="*/ 86929 w 4522676"/>
              <a:gd name="csY14" fmla="*/ 1543401 h 4594598"/>
              <a:gd name="csX15" fmla="*/ 39260 w 4522676"/>
              <a:gd name="csY15" fmla="*/ 721029 h 4594598"/>
              <a:gd name="csX16" fmla="*/ 1537398 w 4522676"/>
              <a:gd name="csY16" fmla="*/ 85321 h 4594598"/>
              <a:gd name="csX17" fmla="*/ 2259226 w 4522676"/>
              <a:gd name="csY17" fmla="*/ 0 h 459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522676" h="4594598">
                <a:moveTo>
                  <a:pt x="2259226" y="0"/>
                </a:moveTo>
                <a:cubicBezTo>
                  <a:pt x="2558853" y="6010"/>
                  <a:pt x="2882515" y="97740"/>
                  <a:pt x="3190558" y="81717"/>
                </a:cubicBezTo>
                <a:cubicBezTo>
                  <a:pt x="3801029" y="41660"/>
                  <a:pt x="4449551" y="204693"/>
                  <a:pt x="4517651" y="936534"/>
                </a:cubicBezTo>
                <a:cubicBezTo>
                  <a:pt x="4547291" y="1189700"/>
                  <a:pt x="4436334" y="1459683"/>
                  <a:pt x="4431926" y="1710842"/>
                </a:cubicBezTo>
                <a:cubicBezTo>
                  <a:pt x="4431926" y="1714846"/>
                  <a:pt x="4427923" y="1708037"/>
                  <a:pt x="4432730" y="1728468"/>
                </a:cubicBezTo>
                <a:cubicBezTo>
                  <a:pt x="4429525" y="1884688"/>
                  <a:pt x="4517651" y="2027292"/>
                  <a:pt x="4521654" y="2182714"/>
                </a:cubicBezTo>
                <a:cubicBezTo>
                  <a:pt x="4527264" y="2515989"/>
                  <a:pt x="4414705" y="2859682"/>
                  <a:pt x="4435131" y="3196162"/>
                </a:cubicBezTo>
                <a:cubicBezTo>
                  <a:pt x="4448353" y="3556676"/>
                  <a:pt x="4455162" y="3944030"/>
                  <a:pt x="4296136" y="4268092"/>
                </a:cubicBezTo>
                <a:cubicBezTo>
                  <a:pt x="4151526" y="4540480"/>
                  <a:pt x="3778997" y="4510836"/>
                  <a:pt x="3498596" y="4521652"/>
                </a:cubicBezTo>
                <a:cubicBezTo>
                  <a:pt x="3216994" y="4534471"/>
                  <a:pt x="2942603" y="4579734"/>
                  <a:pt x="2663406" y="4591354"/>
                </a:cubicBezTo>
                <a:cubicBezTo>
                  <a:pt x="2284463" y="4614185"/>
                  <a:pt x="1907127" y="4508834"/>
                  <a:pt x="1524979" y="4514444"/>
                </a:cubicBezTo>
                <a:cubicBezTo>
                  <a:pt x="1000232" y="4537675"/>
                  <a:pt x="192276" y="4610981"/>
                  <a:pt x="53681" y="3964057"/>
                </a:cubicBezTo>
                <a:cubicBezTo>
                  <a:pt x="-36447" y="3551066"/>
                  <a:pt x="104954" y="3112443"/>
                  <a:pt x="89331" y="2693843"/>
                </a:cubicBezTo>
                <a:cubicBezTo>
                  <a:pt x="86126" y="2558052"/>
                  <a:pt x="-397" y="2423860"/>
                  <a:pt x="2" y="2288465"/>
                </a:cubicBezTo>
                <a:cubicBezTo>
                  <a:pt x="2008" y="2042116"/>
                  <a:pt x="100147" y="1792160"/>
                  <a:pt x="86929" y="1543401"/>
                </a:cubicBezTo>
                <a:cubicBezTo>
                  <a:pt x="74111" y="1273019"/>
                  <a:pt x="-30441" y="985007"/>
                  <a:pt x="39260" y="721029"/>
                </a:cubicBezTo>
                <a:cubicBezTo>
                  <a:pt x="224726" y="-18024"/>
                  <a:pt x="908902" y="42862"/>
                  <a:pt x="1537398" y="85321"/>
                </a:cubicBezTo>
                <a:cubicBezTo>
                  <a:pt x="1783751" y="98139"/>
                  <a:pt x="2026495" y="803"/>
                  <a:pt x="2259226" y="0"/>
                </a:cubicBezTo>
                <a:close/>
              </a:path>
            </a:pathLst>
          </a:custGeom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8107A9B-00FF-63D1-4B3E-D8E399D5684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982200" y="1790700"/>
            <a:ext cx="7543800" cy="80010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Digital Invoicing Workflow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enables a fully digital invoicing process to enhance accuracy and efficiency in financial transactions.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Regulatory Compliance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Built-in validation and audit trails ensure all invoices comply with UAE regulatory standards.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Centralized Invoice Management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All invoices are stored in a centralized database for easy tracking, reporting, and management.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Integrated End-to-End Transactions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E-invoicing integrates with procurement and finance modules for seamless transaction management.</a:t>
            </a:r>
          </a:p>
        </p:txBody>
      </p:sp>
    </p:spTree>
    <p:extLst>
      <p:ext uri="{BB962C8B-B14F-4D97-AF65-F5344CB8AC3E}">
        <p14:creationId xmlns:p14="http://schemas.microsoft.com/office/powerpoint/2010/main" val="1752199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19A7-1349-92CA-97FB-AC4A73080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E5D60F-BAD2-45C0-8C0E-3AD0D430BC9C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942D548-78AF-AC1A-C962-26D1BCAD7928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832CE0D-8854-A26C-0C84-8F92E25F8DF4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FA35EE2-1F98-D257-2416-85D2DD6C9F4E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ABA6BB7-7BC4-2C0B-641D-924D8480D1E8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E4D746A-8457-7966-DF8C-ACEB9AD1C503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601966F8-C88D-8385-5834-7337A23E1B91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6C968E0-20D0-4FAD-1E2F-8B1CA9E808C5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A333406-2C6D-724B-00C2-53829C3C46BD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3D5F9B8-6027-12A0-2572-68A8B41E6D07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83EBA5A-0B42-3F42-1120-81722C7031DE}"/>
              </a:ext>
            </a:extLst>
          </p:cNvPr>
          <p:cNvSpPr txBox="1">
            <a:spLocks/>
          </p:cNvSpPr>
          <p:nvPr/>
        </p:nvSpPr>
        <p:spPr>
          <a:xfrm>
            <a:off x="569195" y="1943100"/>
            <a:ext cx="6858000" cy="93268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Customer, Vendor, and Workforce Adoption</a:t>
            </a:r>
          </a:p>
        </p:txBody>
      </p:sp>
      <p:pic>
        <p:nvPicPr>
          <p:cNvPr id="9" name="Content Placeholder 7" descr="4K Resolution">
            <a:extLst>
              <a:ext uri="{FF2B5EF4-FFF2-40B4-BE49-F238E27FC236}">
                <a16:creationId xmlns:a16="http://schemas.microsoft.com/office/drawing/2014/main" id="{B336406B-5305-2F09-4279-8E2930A718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069" r="32931"/>
          <a:stretch>
            <a:fillRect/>
          </a:stretch>
        </p:blipFill>
        <p:spPr>
          <a:xfrm>
            <a:off x="1912251" y="3009900"/>
            <a:ext cx="4023340" cy="6858000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0B28851-364A-139A-8415-4005CDB5ABBA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220200" y="1714500"/>
            <a:ext cx="9067800" cy="766400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Customer Platform Adoption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Over 50 customers use the platform to track assets, manage work orders, and handle maintenance tasks with transparency and control.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Vendor Portal Integration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More than 500 suppliers manage procurement processes digitally, improving accuracy and reducing delays via the vendor portal.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Internal Workforce Utilization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200+ operations staff and 50 corporate employees use the system for work order processing, reporting, and cross-department coordination.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Unified Digital Network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The platform connects all stakeholders into one network, enabling efficient communication, visibility, and improved service delivery.</a:t>
            </a:r>
          </a:p>
        </p:txBody>
      </p:sp>
    </p:spTree>
    <p:extLst>
      <p:ext uri="{BB962C8B-B14F-4D97-AF65-F5344CB8AC3E}">
        <p14:creationId xmlns:p14="http://schemas.microsoft.com/office/powerpoint/2010/main" val="1644432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676E0-CB70-C65D-6E79-8E6FE289E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E747270-0A4C-74DB-F225-7199BBF4B6C8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D0D286-9A29-82C8-2EF2-D8D4C45C424C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E1224C7-E317-F478-A8FC-EF4D3AD33E9C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B9A62D7-F6EB-5DEB-A0E7-344801961E1F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B751F5F-43D6-6B58-480F-A9C5BBCD07DB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5669596-F7FE-ED32-C0FE-D973558B315E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3173B08C-E24A-0211-6351-32ED1F0B7A4D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BBA03BD-0941-49CC-9581-18D8E2AFBD59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BD14D38-FA36-C1E6-E7B6-52C52630B74E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82D4036-63CC-97CA-FF9A-790CB5EBADFC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CBFD47-37A5-8CDF-11DB-1C1250677476}"/>
              </a:ext>
            </a:extLst>
          </p:cNvPr>
          <p:cNvSpPr txBox="1">
            <a:spLocks/>
          </p:cNvSpPr>
          <p:nvPr/>
        </p:nvSpPr>
        <p:spPr>
          <a:xfrm>
            <a:off x="914400" y="2171700"/>
            <a:ext cx="6858000" cy="932688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Operational Efficiency and Cost Optimization</a:t>
            </a:r>
          </a:p>
        </p:txBody>
      </p:sp>
      <p:pic>
        <p:nvPicPr>
          <p:cNvPr id="9" name="Content Placeholder 7" descr="Cloud computing concept isolated on white background">
            <a:extLst>
              <a:ext uri="{FF2B5EF4-FFF2-40B4-BE49-F238E27FC236}">
                <a16:creationId xmlns:a16="http://schemas.microsoft.com/office/drawing/2014/main" id="{3FDA3D98-87CB-8B93-A634-8645EBDFC5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990" r="29010"/>
          <a:stretch>
            <a:fillRect/>
          </a:stretch>
        </p:blipFill>
        <p:spPr>
          <a:xfrm>
            <a:off x="2440534" y="2933700"/>
            <a:ext cx="4023340" cy="6858000"/>
          </a:xfrm>
          <a:prstGeom prst="rect">
            <a:avLst/>
          </a:prstGeom>
        </p:spPr>
      </p:pic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110C039C-E3F5-CC2C-1B0C-DF2F7511183E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10516927" y="1549908"/>
            <a:ext cx="6858000" cy="498348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Automation Reduces Manual Work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Workflow automation and centralized access reduce manual tasks, speeding approvals and improving team coordination.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Cost Savings via In-House Development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Adopting an in-house development approach lowers infrastructure and system costs by 25-30%, reducing vendor reliance.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Centralized Data for Better Decisions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A centralized data environment improves resource tracking and decision-making for efficient allocation and governance.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sz="2800" b="1" dirty="0"/>
              <a:t>Enhanced Service Delivery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Operational efficiency and faster processes improve service delivery and increase customer satisfaction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301167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85CA6-CE8B-4D6F-BDE6-A68B860E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586640B-8876-4971-81B9-152240718C53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7C844E-4F43-FED2-5B2F-D434479ED361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A91C479-074A-E172-E999-57B722FCDEB5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FD4C0C2-C770-2848-AA19-F2CBF433E0D2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3DF5901-94DE-29F2-0227-C300E4122185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AB84813-97EB-DC63-7EBE-26BFDD6896AD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9C132D18-CFB8-4289-BA39-D478ACEE0221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B4AC87A-ADED-A139-843C-B1C70B800A45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96810C5-CD2A-D22A-DA40-635FC2282E4D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81FE351-7F65-ECC8-F6E0-AF4319D9EAC4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7638E4-2A45-9B4E-3F1A-C1024B6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62816"/>
            <a:ext cx="9098559" cy="62124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73A941B-CA78-0168-E0C4-E1071684B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" y="1776873"/>
            <a:ext cx="13982700" cy="132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2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34F9-A473-FBEF-4C91-E94526A23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566911-A0DF-507B-FF4C-4E9A5C00ECF8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EC0E6C-5317-D7E7-D6DF-BC2927890D61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E4B72F1-BE4A-A3BD-6E34-AAFBB7F0B008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4673E02-10D3-8C6A-D851-BB1989C1759C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1C41C76F-BFC0-4843-32DD-2EB442E8F818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F9A1548-3ADD-F256-E106-4F5681872F73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676B2D36-FA61-0376-0653-4063070DF172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84955D7-CAE4-ABE5-686A-345226207901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F41A3BF-C803-9FA0-724F-27C84E4C5A45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CA96564-3CE8-4D9F-3689-E3F1176ADFEA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5CD220-8ECB-105E-7EF7-89FD682FB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799" y="2928921"/>
            <a:ext cx="14167183" cy="66341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7300EE-E4D9-D092-98C7-7FB53BF0EE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401" y="1708605"/>
            <a:ext cx="9163103" cy="102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821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EE45-E97D-1C79-7C01-C8AB8A6B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B14B0E8-B376-6DDD-1521-0C2DC5D46B33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E68BC8D-F72E-55B8-7FE6-E82B201E9EE8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882EE08-C561-2F8D-4AFC-43A87A5D9D0F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8EF724D-8F71-57B2-EC9C-C51887C008A0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B1B2CCC6-C583-6A46-D9F2-3727FC8AD8EE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CB12FAD-69E3-45AB-5E6A-F575A0037E1C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96FE0206-FF8B-743E-00E2-BFDF4D36A26C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426B98E-0313-64E4-D663-4528E7318F08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2F41E3D-5F15-C177-81EF-2F4F869AA5E1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8D65F23-2D87-FD99-79D1-BC16FAA1F975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613CBC-FCE3-8DFA-897C-D3103BE55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533900"/>
            <a:ext cx="17602200" cy="43195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6A4EF5-CA27-51D9-A991-F14AF06B2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2247900"/>
            <a:ext cx="10135095" cy="202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30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A5153-CC61-9A06-8EC6-393EE549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94D5FE-DB2B-BE5E-ADA8-AF405DA9798C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FE5E91D-D429-25F5-15CE-14381FB02D54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86722A5-8EAC-4D74-B819-8C2DE50D320D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1D929AD-F289-EC55-5AF7-84241D271C51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31AECCD-BDCC-6B60-C2AD-61A8DE6E43AC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8132D54-5A38-55BE-7660-F042BF5B845B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A05F15CF-2DBF-22EE-61AD-86E774CC8BFA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29D1E03-1DFB-2189-3472-F34C4F899F33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0D481A1-EC85-E097-59A1-A7F137B6FEAB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C22BA2D-BBE3-3812-61D8-D6BADA8424A1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E95FC93-BD45-EBBB-1193-9D642BF04D41}"/>
              </a:ext>
            </a:extLst>
          </p:cNvPr>
          <p:cNvSpPr txBox="1">
            <a:spLocks/>
          </p:cNvSpPr>
          <p:nvPr/>
        </p:nvSpPr>
        <p:spPr>
          <a:xfrm>
            <a:off x="1331955" y="2201405"/>
            <a:ext cx="6579638" cy="10684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/>
              <a:t>Business Value Creation</a:t>
            </a:r>
          </a:p>
        </p:txBody>
      </p:sp>
      <p:pic>
        <p:nvPicPr>
          <p:cNvPr id="9" name="Content Placeholder 4" descr="Smart Cities">
            <a:extLst>
              <a:ext uri="{FF2B5EF4-FFF2-40B4-BE49-F238E27FC236}">
                <a16:creationId xmlns:a16="http://schemas.microsoft.com/office/drawing/2014/main" id="{B49F1B09-F5E7-893F-72F2-EB3ECC82C5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225" r="7787" b="-2"/>
          <a:stretch>
            <a:fillRect/>
          </a:stretch>
        </p:blipFill>
        <p:spPr>
          <a:xfrm>
            <a:off x="1543268" y="3695700"/>
            <a:ext cx="6347784" cy="5503760"/>
          </a:xfrm>
          <a:custGeom>
            <a:avLst/>
            <a:gdLst>
              <a:gd name="csX0" fmla="*/ 2259226 w 4522676"/>
              <a:gd name="csY0" fmla="*/ 0 h 4594598"/>
              <a:gd name="csX1" fmla="*/ 3190558 w 4522676"/>
              <a:gd name="csY1" fmla="*/ 81717 h 4594598"/>
              <a:gd name="csX2" fmla="*/ 4517651 w 4522676"/>
              <a:gd name="csY2" fmla="*/ 936534 h 4594598"/>
              <a:gd name="csX3" fmla="*/ 4431926 w 4522676"/>
              <a:gd name="csY3" fmla="*/ 1710842 h 4594598"/>
              <a:gd name="csX4" fmla="*/ 4432730 w 4522676"/>
              <a:gd name="csY4" fmla="*/ 1728468 h 4594598"/>
              <a:gd name="csX5" fmla="*/ 4521654 w 4522676"/>
              <a:gd name="csY5" fmla="*/ 2182714 h 4594598"/>
              <a:gd name="csX6" fmla="*/ 4435131 w 4522676"/>
              <a:gd name="csY6" fmla="*/ 3196162 h 4594598"/>
              <a:gd name="csX7" fmla="*/ 4296136 w 4522676"/>
              <a:gd name="csY7" fmla="*/ 4268092 h 4594598"/>
              <a:gd name="csX8" fmla="*/ 3498596 w 4522676"/>
              <a:gd name="csY8" fmla="*/ 4521652 h 4594598"/>
              <a:gd name="csX9" fmla="*/ 2663406 w 4522676"/>
              <a:gd name="csY9" fmla="*/ 4591354 h 4594598"/>
              <a:gd name="csX10" fmla="*/ 1524979 w 4522676"/>
              <a:gd name="csY10" fmla="*/ 4514444 h 4594598"/>
              <a:gd name="csX11" fmla="*/ 53681 w 4522676"/>
              <a:gd name="csY11" fmla="*/ 3964057 h 4594598"/>
              <a:gd name="csX12" fmla="*/ 89331 w 4522676"/>
              <a:gd name="csY12" fmla="*/ 2693843 h 4594598"/>
              <a:gd name="csX13" fmla="*/ 2 w 4522676"/>
              <a:gd name="csY13" fmla="*/ 2288465 h 4594598"/>
              <a:gd name="csX14" fmla="*/ 86929 w 4522676"/>
              <a:gd name="csY14" fmla="*/ 1543401 h 4594598"/>
              <a:gd name="csX15" fmla="*/ 39260 w 4522676"/>
              <a:gd name="csY15" fmla="*/ 721029 h 4594598"/>
              <a:gd name="csX16" fmla="*/ 1537398 w 4522676"/>
              <a:gd name="csY16" fmla="*/ 85321 h 4594598"/>
              <a:gd name="csX17" fmla="*/ 2259226 w 4522676"/>
              <a:gd name="csY17" fmla="*/ 0 h 459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522676" h="4594598">
                <a:moveTo>
                  <a:pt x="2259226" y="0"/>
                </a:moveTo>
                <a:cubicBezTo>
                  <a:pt x="2558853" y="6010"/>
                  <a:pt x="2882515" y="97740"/>
                  <a:pt x="3190558" y="81717"/>
                </a:cubicBezTo>
                <a:cubicBezTo>
                  <a:pt x="3801029" y="41660"/>
                  <a:pt x="4449551" y="204693"/>
                  <a:pt x="4517651" y="936534"/>
                </a:cubicBezTo>
                <a:cubicBezTo>
                  <a:pt x="4547291" y="1189700"/>
                  <a:pt x="4436334" y="1459683"/>
                  <a:pt x="4431926" y="1710842"/>
                </a:cubicBezTo>
                <a:cubicBezTo>
                  <a:pt x="4431926" y="1714846"/>
                  <a:pt x="4427923" y="1708037"/>
                  <a:pt x="4432730" y="1728468"/>
                </a:cubicBezTo>
                <a:cubicBezTo>
                  <a:pt x="4429525" y="1884688"/>
                  <a:pt x="4517651" y="2027292"/>
                  <a:pt x="4521654" y="2182714"/>
                </a:cubicBezTo>
                <a:cubicBezTo>
                  <a:pt x="4527264" y="2515989"/>
                  <a:pt x="4414705" y="2859682"/>
                  <a:pt x="4435131" y="3196162"/>
                </a:cubicBezTo>
                <a:cubicBezTo>
                  <a:pt x="4448353" y="3556676"/>
                  <a:pt x="4455162" y="3944030"/>
                  <a:pt x="4296136" y="4268092"/>
                </a:cubicBezTo>
                <a:cubicBezTo>
                  <a:pt x="4151526" y="4540480"/>
                  <a:pt x="3778997" y="4510836"/>
                  <a:pt x="3498596" y="4521652"/>
                </a:cubicBezTo>
                <a:cubicBezTo>
                  <a:pt x="3216994" y="4534471"/>
                  <a:pt x="2942603" y="4579734"/>
                  <a:pt x="2663406" y="4591354"/>
                </a:cubicBezTo>
                <a:cubicBezTo>
                  <a:pt x="2284463" y="4614185"/>
                  <a:pt x="1907127" y="4508834"/>
                  <a:pt x="1524979" y="4514444"/>
                </a:cubicBezTo>
                <a:cubicBezTo>
                  <a:pt x="1000232" y="4537675"/>
                  <a:pt x="192276" y="4610981"/>
                  <a:pt x="53681" y="3964057"/>
                </a:cubicBezTo>
                <a:cubicBezTo>
                  <a:pt x="-36447" y="3551066"/>
                  <a:pt x="104954" y="3112443"/>
                  <a:pt x="89331" y="2693843"/>
                </a:cubicBezTo>
                <a:cubicBezTo>
                  <a:pt x="86126" y="2558052"/>
                  <a:pt x="-397" y="2423860"/>
                  <a:pt x="2" y="2288465"/>
                </a:cubicBezTo>
                <a:cubicBezTo>
                  <a:pt x="2008" y="2042116"/>
                  <a:pt x="100147" y="1792160"/>
                  <a:pt x="86929" y="1543401"/>
                </a:cubicBezTo>
                <a:cubicBezTo>
                  <a:pt x="74111" y="1273019"/>
                  <a:pt x="-30441" y="985007"/>
                  <a:pt x="39260" y="721029"/>
                </a:cubicBezTo>
                <a:cubicBezTo>
                  <a:pt x="224726" y="-18024"/>
                  <a:pt x="908902" y="42862"/>
                  <a:pt x="1537398" y="85321"/>
                </a:cubicBezTo>
                <a:cubicBezTo>
                  <a:pt x="1783751" y="98139"/>
                  <a:pt x="2026495" y="803"/>
                  <a:pt x="2259226" y="0"/>
                </a:cubicBezTo>
                <a:close/>
              </a:path>
            </a:pathLst>
          </a:custGeom>
          <a:blipFill dpi="0" rotWithShape="1">
            <a:blip r:embed="rId5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1769" t="-17012" r="-30749"/>
            </a:stretch>
          </a:blipFill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98CE9E6-4C6B-68A5-377B-76CBC52A87A4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829800" y="2224153"/>
            <a:ext cx="7840593" cy="7010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500"/>
              </a:spcBef>
            </a:pPr>
            <a:r>
              <a:rPr lang="en-US" sz="2400" b="1" dirty="0"/>
              <a:t>Process Automation Benefits</a:t>
            </a:r>
          </a:p>
          <a:p>
            <a:pPr marL="0" lvl="1"/>
            <a:r>
              <a:rPr lang="en-US" sz="2400" dirty="0"/>
              <a:t>Automating processes reduces manual workload, saving time and lowering operational costs significantly.</a:t>
            </a:r>
          </a:p>
          <a:p>
            <a:pPr>
              <a:spcBef>
                <a:spcPts val="2500"/>
              </a:spcBef>
            </a:pPr>
            <a:r>
              <a:rPr lang="en-US" sz="2400" b="1" dirty="0"/>
              <a:t>Real-Time Operational Insights</a:t>
            </a:r>
          </a:p>
          <a:p>
            <a:pPr marL="0" lvl="1"/>
            <a:r>
              <a:rPr lang="en-US" sz="2400" dirty="0"/>
              <a:t>Real-time visibility into operations enables quick identification and implementation of optimization opportunities.</a:t>
            </a:r>
          </a:p>
          <a:p>
            <a:pPr>
              <a:spcBef>
                <a:spcPts val="2500"/>
              </a:spcBef>
            </a:pPr>
            <a:r>
              <a:rPr lang="en-US" sz="2400" b="1" dirty="0"/>
              <a:t>Strategic Competitive Advantage</a:t>
            </a:r>
          </a:p>
          <a:p>
            <a:pPr marL="0" lvl="1"/>
            <a:r>
              <a:rPr lang="en-US" sz="2400" dirty="0"/>
              <a:t>EnFM360 positions EnFM as a digitally advanced organization, adaptable to evolving market conditions.</a:t>
            </a:r>
          </a:p>
          <a:p>
            <a:pPr>
              <a:spcBef>
                <a:spcPts val="2500"/>
              </a:spcBef>
            </a:pPr>
            <a:r>
              <a:rPr lang="en-US" sz="2400" b="1" dirty="0"/>
              <a:t>Long-Term Digital Excellence</a:t>
            </a:r>
          </a:p>
          <a:p>
            <a:pPr marL="0" lvl="1"/>
            <a:r>
              <a:rPr lang="en-US" sz="2400" dirty="0"/>
              <a:t>The platform represents a transformative initiative investing in digital excellence and sustainable growth.</a:t>
            </a:r>
          </a:p>
        </p:txBody>
      </p:sp>
    </p:spTree>
    <p:extLst>
      <p:ext uri="{BB962C8B-B14F-4D97-AF65-F5344CB8AC3E}">
        <p14:creationId xmlns:p14="http://schemas.microsoft.com/office/powerpoint/2010/main" val="246449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10AC-A781-98B6-2748-DB35B3C8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A5F4E6-4AAE-934E-2BDC-551B53CAB178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2C2E65B-2CF0-CA62-8476-3774199A2A4D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B4C110E-8064-EC77-2A30-31E93F1767F4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44F272-DE3E-3018-EB56-DA7E0011FC83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2DAAD12-138D-4FEE-474D-4E810DF9D777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2327B7D-1649-1BB7-4BE5-616983C6F2D5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D0226F23-9E00-85D4-DD6D-2B38A8E41E57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9A582F5-A8B5-CECE-FEF0-2A661E27182B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A9EED05-BCAC-0D0E-4FB4-8A5186C13954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AB7B65C-B39D-866A-A38D-E8BE9FBB73D0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49CFC0A-3CCD-E0B5-B0F3-F6786EF195D8}"/>
              </a:ext>
            </a:extLst>
          </p:cNvPr>
          <p:cNvSpPr txBox="1">
            <a:spLocks/>
          </p:cNvSpPr>
          <p:nvPr/>
        </p:nvSpPr>
        <p:spPr>
          <a:xfrm>
            <a:off x="2395535" y="2322510"/>
            <a:ext cx="4810129" cy="1269482"/>
          </a:xfrm>
          <a:prstGeom prst="rect">
            <a:avLst/>
          </a:prstGeom>
        </p:spPr>
        <p:txBody>
          <a:bodyPr anchor="t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Conclusion</a:t>
            </a:r>
          </a:p>
        </p:txBody>
      </p:sp>
      <p:pic>
        <p:nvPicPr>
          <p:cNvPr id="16" name="Content Placeholder 4" descr="Conceptual image representing mosaic media interface and the digital software. A wall of screens curves away from view, shimmering with an assortment of random graphics, animations and simple icon images.">
            <a:extLst>
              <a:ext uri="{FF2B5EF4-FFF2-40B4-BE49-F238E27FC236}">
                <a16:creationId xmlns:a16="http://schemas.microsoft.com/office/drawing/2014/main" id="{D8717CB8-3D36-9CD1-13FA-34F6EF5E55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29" r="2120" b="1"/>
          <a:stretch>
            <a:fillRect/>
          </a:stretch>
        </p:blipFill>
        <p:spPr>
          <a:xfrm>
            <a:off x="1371600" y="3619500"/>
            <a:ext cx="6858000" cy="5428396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A8A2D1F6-8D04-6CF4-4ECB-949027A1A4F7}"/>
              </a:ext>
            </a:extLst>
          </p:cNvPr>
          <p:cNvSpPr txBox="1">
            <a:spLocks/>
          </p:cNvSpPr>
          <p:nvPr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9601200" y="2628900"/>
            <a:ext cx="7924820" cy="684589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Comprehensive Digital Platform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integrates core business functions and automates processes to enhance efficiency and decision-making.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Governance and Scalability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The platform ensures strong governance, compliance, and scalability to support current and future organizational needs.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Future-Ready Technology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EnFM360 is designed to incorporate emerging technologies like AI and comply with regulatory standards such as e-invoicing.</a:t>
            </a:r>
          </a:p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r>
              <a:rPr lang="en-US" b="1" dirty="0"/>
              <a:t>Strategic Business Impact</a:t>
            </a:r>
          </a:p>
          <a:p>
            <a:pPr marL="0" lvl="1" indent="0">
              <a:buFont typeface="Arial" pitchFamily="34" charset="0"/>
              <a:buNone/>
            </a:pPr>
            <a:r>
              <a:rPr lang="en-US" dirty="0"/>
              <a:t>The platform strengthens service delivery, competitive positioning, and supports digital transformation and growth.</a:t>
            </a:r>
          </a:p>
        </p:txBody>
      </p:sp>
    </p:spTree>
    <p:extLst>
      <p:ext uri="{BB962C8B-B14F-4D97-AF65-F5344CB8AC3E}">
        <p14:creationId xmlns:p14="http://schemas.microsoft.com/office/powerpoint/2010/main" val="147473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D47A-5449-27BD-D0ED-E1E3FF42B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691B41-21F9-8B00-9C62-C3DC1A7D72ED}"/>
              </a:ext>
            </a:extLst>
          </p:cNvPr>
          <p:cNvGrpSpPr/>
          <p:nvPr/>
        </p:nvGrpSpPr>
        <p:grpSpPr>
          <a:xfrm>
            <a:off x="533400" y="-38100"/>
            <a:ext cx="7357614" cy="1205692"/>
            <a:chOff x="0" y="0"/>
            <a:chExt cx="12273978" cy="20113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8DF4C5-1874-E843-F3F6-CC76B252568D}"/>
                </a:ext>
              </a:extLst>
            </p:cNvPr>
            <p:cNvSpPr/>
            <p:nvPr/>
          </p:nvSpPr>
          <p:spPr>
            <a:xfrm>
              <a:off x="0" y="0"/>
              <a:ext cx="12274042" cy="2011329"/>
            </a:xfrm>
            <a:custGeom>
              <a:avLst/>
              <a:gdLst/>
              <a:ahLst/>
              <a:cxnLst/>
              <a:rect l="l" t="t" r="r" b="b"/>
              <a:pathLst>
                <a:path w="12274042" h="2011329">
                  <a:moveTo>
                    <a:pt x="0" y="0"/>
                  </a:moveTo>
                  <a:lnTo>
                    <a:pt x="12274042" y="0"/>
                  </a:lnTo>
                  <a:lnTo>
                    <a:pt x="12274042" y="2011329"/>
                  </a:lnTo>
                  <a:lnTo>
                    <a:pt x="0" y="2011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190" b="-28191"/>
              </a:stretch>
            </a:blipFill>
          </p:spPr>
          <p:txBody>
            <a:bodyPr/>
            <a:lstStyle/>
            <a:p>
              <a:endParaRPr lang="en-AE" dirty="0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967AB8EF-341E-60F3-8986-0DB24D0BF94D}"/>
              </a:ext>
            </a:extLst>
          </p:cNvPr>
          <p:cNvGrpSpPr/>
          <p:nvPr/>
        </p:nvGrpSpPr>
        <p:grpSpPr>
          <a:xfrm>
            <a:off x="3273199" y="1234267"/>
            <a:ext cx="19050" cy="292313"/>
            <a:chOff x="0" y="0"/>
            <a:chExt cx="25400" cy="38975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9FD4AAC-5BB9-CE0F-91CE-E0F5142521E3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006A36"/>
            </a:solidFill>
          </p:spPr>
          <p:txBody>
            <a:bodyPr/>
            <a:lstStyle/>
            <a:p>
              <a:endParaRPr lang="en-AE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5F3E536D-8FFF-9ED4-754D-E2882B04546E}"/>
              </a:ext>
            </a:extLst>
          </p:cNvPr>
          <p:cNvGrpSpPr/>
          <p:nvPr/>
        </p:nvGrpSpPr>
        <p:grpSpPr>
          <a:xfrm>
            <a:off x="5386539" y="1234267"/>
            <a:ext cx="19050" cy="292313"/>
            <a:chOff x="0" y="0"/>
            <a:chExt cx="25400" cy="3897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7C762A7-E09C-5283-DF0F-A50BA185087E}"/>
                </a:ext>
              </a:extLst>
            </p:cNvPr>
            <p:cNvSpPr/>
            <p:nvPr/>
          </p:nvSpPr>
          <p:spPr>
            <a:xfrm>
              <a:off x="0" y="12700"/>
              <a:ext cx="25400" cy="364363"/>
            </a:xfrm>
            <a:custGeom>
              <a:avLst/>
              <a:gdLst/>
              <a:ahLst/>
              <a:cxnLst/>
              <a:rect l="l" t="t" r="r" b="b"/>
              <a:pathLst>
                <a:path w="25400" h="364363">
                  <a:moveTo>
                    <a:pt x="0" y="364363"/>
                  </a:moveTo>
                  <a:lnTo>
                    <a:pt x="0" y="0"/>
                  </a:lnTo>
                  <a:lnTo>
                    <a:pt x="25400" y="0"/>
                  </a:lnTo>
                  <a:lnTo>
                    <a:pt x="25400" y="364363"/>
                  </a:lnTo>
                  <a:close/>
                </a:path>
              </a:pathLst>
            </a:custGeom>
            <a:solidFill>
              <a:srgbClr val="C41522"/>
            </a:solidFill>
          </p:spPr>
          <p:txBody>
            <a:bodyPr/>
            <a:lstStyle/>
            <a:p>
              <a:endParaRPr lang="en-AE"/>
            </a:p>
          </p:txBody>
        </p:sp>
      </p:grpSp>
      <p:sp>
        <p:nvSpPr>
          <p:cNvPr id="10" name="Freeform 10">
            <a:extLst>
              <a:ext uri="{FF2B5EF4-FFF2-40B4-BE49-F238E27FC236}">
                <a16:creationId xmlns:a16="http://schemas.microsoft.com/office/drawing/2014/main" id="{8801EE04-C500-3CE8-2221-9EF6A8FD5723}"/>
              </a:ext>
            </a:extLst>
          </p:cNvPr>
          <p:cNvSpPr/>
          <p:nvPr/>
        </p:nvSpPr>
        <p:spPr>
          <a:xfrm>
            <a:off x="11912447" y="3935355"/>
            <a:ext cx="6375553" cy="6351645"/>
          </a:xfrm>
          <a:custGeom>
            <a:avLst/>
            <a:gdLst/>
            <a:ahLst/>
            <a:cxnLst/>
            <a:rect l="l" t="t" r="r" b="b"/>
            <a:pathLst>
              <a:path w="6375553" h="6351645">
                <a:moveTo>
                  <a:pt x="0" y="0"/>
                </a:moveTo>
                <a:lnTo>
                  <a:pt x="6375553" y="0"/>
                </a:lnTo>
                <a:lnTo>
                  <a:pt x="6375553" y="6351645"/>
                </a:lnTo>
                <a:lnTo>
                  <a:pt x="0" y="6351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62C9E57-DF6B-352E-F93F-DD7342550C7E}"/>
              </a:ext>
            </a:extLst>
          </p:cNvPr>
          <p:cNvSpPr txBox="1"/>
          <p:nvPr/>
        </p:nvSpPr>
        <p:spPr>
          <a:xfrm>
            <a:off x="1543268" y="1167592"/>
            <a:ext cx="1257681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006A3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CONNECT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706FA97-E31A-8F3E-AAD2-58A581CA0DCA}"/>
              </a:ext>
            </a:extLst>
          </p:cNvPr>
          <p:cNvSpPr txBox="1"/>
          <p:nvPr/>
        </p:nvSpPr>
        <p:spPr>
          <a:xfrm>
            <a:off x="3930891" y="1167592"/>
            <a:ext cx="1042626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 dirty="0">
                <a:solidFill>
                  <a:srgbClr val="C41522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PULSE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4693D4C-E249-1BA5-98E4-2EF267F4A8E7}"/>
              </a:ext>
            </a:extLst>
          </p:cNvPr>
          <p:cNvSpPr txBox="1"/>
          <p:nvPr/>
        </p:nvSpPr>
        <p:spPr>
          <a:xfrm>
            <a:off x="5908424" y="1167592"/>
            <a:ext cx="1158545" cy="349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b="1" i="1">
                <a:solidFill>
                  <a:srgbClr val="464648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EVOLVE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771AA-F86F-B55E-9353-30752120FFF1}"/>
              </a:ext>
            </a:extLst>
          </p:cNvPr>
          <p:cNvSpPr txBox="1"/>
          <p:nvPr/>
        </p:nvSpPr>
        <p:spPr>
          <a:xfrm>
            <a:off x="4038600" y="4635668"/>
            <a:ext cx="9144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98031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1080</Words>
  <Application>Microsoft Office PowerPoint</Application>
  <PresentationFormat>Custom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Montserrat Bold Italics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 &amp; Action Plan - ET</dc:title>
  <dc:creator>Mohamed Al Hayki</dc:creator>
  <cp:lastModifiedBy>Ankur Rasiklal Thakkar Thakkar Rasiklal</cp:lastModifiedBy>
  <cp:revision>44</cp:revision>
  <dcterms:created xsi:type="dcterms:W3CDTF">2006-08-16T00:00:00Z</dcterms:created>
  <dcterms:modified xsi:type="dcterms:W3CDTF">2026-06-17T08:57:45Z</dcterms:modified>
  <dc:identifier>DAHDJ4yhfZ0</dc:identifier>
</cp:coreProperties>
</file>