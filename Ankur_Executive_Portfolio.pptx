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PH.jpeg"/>
          <p:cNvPicPr>
            <a:picLocks noChangeAspect="1"/>
          </p:cNvPicPr>
          <p:nvPr/>
        </p:nvPicPr>
        <p:blipFill>
          <a:blip r:embed="rId2"/>
          <a:srcRect r="47135"/>
          <a:stretch>
            <a:fillRect/>
          </a:stretch>
        </p:blipFill>
        <p:spPr>
          <a:xfrm>
            <a:off x="9392718" y="214244"/>
            <a:ext cx="2358123" cy="6429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ANKUR THAKKAR</a:t>
            </a:r>
          </a:p>
          <a:p>
            <a:pPr>
              <a:defRPr sz="2200" b="1">
                <a:solidFill>
                  <a:srgbClr val="009688"/>
                </a:solidFill>
              </a:defRPr>
            </a:pPr>
            <a:r>
              <a:t>Executive Portfolio</a:t>
            </a:r>
          </a:p>
          <a:p>
            <a:pPr>
              <a:defRPr sz="1800" b="0">
                <a:solidFill>
                  <a:srgbClr val="F0F0F0"/>
                </a:solidFill>
              </a:defRPr>
            </a:pPr>
            <a:r>
              <a:t>Driving Enterprise Digital Transformation Through Product Leadership, AI &amp; Innovation</a:t>
            </a:r>
          </a:p>
          <a:p>
            <a:pPr>
              <a:defRPr sz="1700" b="0">
                <a:solidFill>
                  <a:srgbClr val="DCDCDC"/>
                </a:solidFill>
              </a:defRPr>
            </a:pPr>
            <a:r>
              <a:t>PMP® Certified | Product Owner | IT Manager | Enterprise Applications</a:t>
            </a:r>
          </a:p>
          <a:p>
            <a:pPr>
              <a:defRPr sz="1500" b="0">
                <a:solidFill>
                  <a:srgbClr val="DCDCDC"/>
                </a:solidFill>
              </a:defRPr>
            </a:pPr>
            <a:r>
              <a:t>Dubai, UAE</a:t>
            </a:r>
            <a:br/>
            <a:r>
              <a:t>ankurthakkar8@gmail.com</a:t>
            </a:r>
            <a:br/>
            <a:r>
              <a:t>+971 50 100 2801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622981-6B33-AEF8-F30B-F2AD7E538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5" y="396504"/>
            <a:ext cx="4279440" cy="43209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83E66B-2718-CA90-1EE8-0D8EB5787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826" y="396504"/>
            <a:ext cx="7135562" cy="51218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Executive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14+ Years</a:t>
            </a:r>
          </a:p>
          <a:p>
            <a:pPr>
              <a:defRPr sz="1200"/>
            </a:pPr>
            <a:r>
              <a:t>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914400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14+ Years</a:t>
            </a:r>
          </a:p>
          <a:p>
            <a:pPr>
              <a:defRPr sz="1200"/>
            </a:pPr>
            <a:r>
              <a:t>UAE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914400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18-20</a:t>
            </a:r>
          </a:p>
          <a:p>
            <a:pPr>
              <a:defRPr sz="1200"/>
            </a:pPr>
            <a:r>
              <a:t>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914400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4</a:t>
            </a:r>
          </a:p>
          <a:p>
            <a:pPr>
              <a:defRPr sz="1200"/>
            </a:pPr>
            <a:r>
              <a:t>ERP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7</a:t>
            </a:r>
          </a:p>
          <a:p>
            <a:pPr>
              <a:defRPr sz="1200"/>
            </a:pPr>
            <a:r>
              <a:t>CAFM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331720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2</a:t>
            </a:r>
          </a:p>
          <a:p>
            <a:pPr>
              <a:defRPr sz="1200"/>
            </a:pPr>
            <a:r>
              <a:t>HRMS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31720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250+</a:t>
            </a:r>
          </a:p>
          <a:p>
            <a:pPr>
              <a:defRPr sz="1200"/>
            </a:pPr>
            <a:r>
              <a:t>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331720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50+</a:t>
            </a:r>
          </a:p>
          <a:p>
            <a:pPr>
              <a:defRPr sz="1200"/>
            </a:pPr>
            <a:r>
              <a:t>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500+</a:t>
            </a:r>
          </a:p>
          <a:p>
            <a:pPr>
              <a:defRPr sz="1200"/>
            </a:pPr>
            <a:r>
              <a:t>Vendors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749039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7M+ AED</a:t>
            </a:r>
          </a:p>
          <a:p>
            <a:pPr>
              <a:defRPr sz="1200"/>
            </a:pPr>
            <a:r>
              <a:t>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749039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3</a:t>
            </a:r>
          </a:p>
          <a:p>
            <a:pPr>
              <a:defRPr sz="1200"/>
            </a:pPr>
            <a:r>
              <a:t>Awards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749039"/>
            <a:ext cx="2468880" cy="100584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3</a:t>
            </a:r>
          </a:p>
          <a:p>
            <a:pPr>
              <a:defRPr sz="1200"/>
            </a:pPr>
            <a:r>
              <a:t>Certifications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Career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601200" cy="27432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2651760"/>
            <a:ext cx="228600" cy="228600"/>
          </a:xfrm>
          <a:prstGeom prst="ellipse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2012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Suntech</a:t>
            </a:r>
          </a:p>
          <a:p>
            <a:r>
              <a:t>.NET Developer</a:t>
            </a:r>
          </a:p>
        </p:txBody>
      </p:sp>
      <p:sp>
        <p:nvSpPr>
          <p:cNvPr id="7" name="Oval 6"/>
          <p:cNvSpPr/>
          <p:nvPr/>
        </p:nvSpPr>
        <p:spPr>
          <a:xfrm>
            <a:off x="3108960" y="2651760"/>
            <a:ext cx="228600" cy="228600"/>
          </a:xfrm>
          <a:prstGeom prst="ellipse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2014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971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Realtime</a:t>
            </a:r>
          </a:p>
          <a:p>
            <a:r>
              <a:t>ERP Specialist</a:t>
            </a:r>
          </a:p>
        </p:txBody>
      </p:sp>
      <p:sp>
        <p:nvSpPr>
          <p:cNvPr id="10" name="Oval 9"/>
          <p:cNvSpPr/>
          <p:nvPr/>
        </p:nvSpPr>
        <p:spPr>
          <a:xfrm>
            <a:off x="5303520" y="2651760"/>
            <a:ext cx="228600" cy="228600"/>
          </a:xfrm>
          <a:prstGeom prst="ellipse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2011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71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Lattice</a:t>
            </a:r>
          </a:p>
          <a:p>
            <a:r>
              <a:t>Product Consultant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2651760"/>
            <a:ext cx="228600" cy="228600"/>
          </a:xfrm>
          <a:prstGeom prst="ellipse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2011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2971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ENFM</a:t>
            </a:r>
          </a:p>
          <a:p>
            <a:r>
              <a:t>Senior Product Owner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0" y="2651760"/>
            <a:ext cx="228600" cy="228600"/>
          </a:xfrm>
          <a:prstGeom prst="ellipse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2011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971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Digital Transformation</a:t>
            </a:r>
          </a:p>
          <a:p>
            <a:r>
              <a:t>Leader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Leadership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8569654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Technology should solve business problems and create measurable value.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Core Principles</a:t>
            </a:r>
          </a:p>
          <a:p>
            <a:pPr>
              <a:defRPr sz="2200"/>
            </a:pPr>
            <a:r>
              <a:rPr dirty="0"/>
              <a:t>• Customer First</a:t>
            </a:r>
          </a:p>
          <a:p>
            <a:pPr>
              <a:defRPr sz="2200"/>
            </a:pPr>
            <a:r>
              <a:rPr dirty="0"/>
              <a:t>• Business Value</a:t>
            </a:r>
          </a:p>
          <a:p>
            <a:pPr>
              <a:defRPr sz="2200"/>
            </a:pPr>
            <a:r>
              <a:rPr dirty="0"/>
              <a:t>• Innovation</a:t>
            </a:r>
          </a:p>
          <a:p>
            <a:pPr>
              <a:defRPr sz="2200"/>
            </a:pPr>
            <a:r>
              <a:rPr dirty="0"/>
              <a:t>• Simplicity</a:t>
            </a:r>
          </a:p>
          <a:p>
            <a:pPr>
              <a:defRPr sz="2200"/>
            </a:pPr>
            <a:r>
              <a:rPr dirty="0"/>
              <a:t>• Empower People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Mission:</a:t>
            </a:r>
          </a:p>
          <a:p>
            <a:pPr>
              <a:defRPr sz="2200"/>
            </a:pPr>
            <a:r>
              <a:rPr dirty="0"/>
              <a:t>Build intelligent enterprise products that improve efficiency, </a:t>
            </a:r>
            <a:endParaRPr lang="en-AE" dirty="0"/>
          </a:p>
          <a:p>
            <a:pPr>
              <a:defRPr sz="2200"/>
            </a:pPr>
            <a:r>
              <a:rPr dirty="0"/>
              <a:t>governance, user experience and business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Digital Transformation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0E2356-1155-EED7-10A7-A2643FC83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362" y="1004047"/>
            <a:ext cx="3214139" cy="48499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Business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0467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Fragmented systems</a:t>
            </a:r>
          </a:p>
          <a:p>
            <a:pPr>
              <a:defRPr sz="2200"/>
            </a:pPr>
            <a:r>
              <a:t>• Manual approvals</a:t>
            </a:r>
          </a:p>
          <a:p>
            <a:pPr>
              <a:defRPr sz="2200"/>
            </a:pPr>
            <a:r>
              <a:t>• Spreadsheet-based reporting</a:t>
            </a:r>
          </a:p>
          <a:p>
            <a:pPr>
              <a:defRPr sz="2200"/>
            </a:pPr>
            <a:r>
              <a:t>• Limited visibility</a:t>
            </a:r>
          </a:p>
          <a:p>
            <a:pPr>
              <a:defRPr sz="2200"/>
            </a:pPr>
            <a:r>
              <a:t>• Slow decision making</a:t>
            </a:r>
          </a:p>
          <a:p>
            <a:pPr>
              <a:defRPr sz="2200"/>
            </a:pPr>
            <a:r>
              <a:t>• Vendor dependency</a:t>
            </a:r>
          </a:p>
          <a:p>
            <a:pPr>
              <a:defRPr sz="2200"/>
            </a:pPr>
            <a:r>
              <a:t>• Lack of mobility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EnFM360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80467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Build one integrated enterprise platform connecting:</a:t>
            </a:r>
          </a:p>
          <a:p>
            <a:pPr>
              <a:defRPr sz="2200"/>
            </a:pPr>
            <a:r>
              <a:t>• Operations</a:t>
            </a:r>
          </a:p>
          <a:p>
            <a:pPr>
              <a:defRPr sz="2200"/>
            </a:pPr>
            <a:r>
              <a:t>• Procurement</a:t>
            </a:r>
          </a:p>
          <a:p>
            <a:pPr>
              <a:defRPr sz="2200"/>
            </a:pPr>
            <a:r>
              <a:t>• Finance</a:t>
            </a:r>
          </a:p>
          <a:p>
            <a:pPr>
              <a:defRPr sz="2200"/>
            </a:pPr>
            <a:r>
              <a:t>• HR</a:t>
            </a:r>
          </a:p>
          <a:p>
            <a:pPr>
              <a:defRPr sz="2200"/>
            </a:pPr>
            <a:r>
              <a:t>• Customers</a:t>
            </a:r>
          </a:p>
          <a:p>
            <a:pPr>
              <a:defRPr sz="2200"/>
            </a:pPr>
            <a:r>
              <a:t>• Vendors</a:t>
            </a:r>
          </a:p>
          <a:p>
            <a:pPr>
              <a:defRPr sz="2200"/>
            </a:pPr>
            <a:r>
              <a:t>• Executive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0467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Users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Mobile Apps / Web Portal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EnFM360 Platform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ERP • CAFM • HRMS • Finance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Power BI • APIs • Azure • SQL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0467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Phase 1 - Work Orders &amp; CAFM</a:t>
            </a:r>
          </a:p>
          <a:p>
            <a:pPr>
              <a:defRPr sz="2200"/>
            </a:pPr>
            <a:r>
              <a:t>Phase 2 - Procurement &amp; Vendor Portal</a:t>
            </a:r>
          </a:p>
          <a:p>
            <a:pPr>
              <a:defRPr sz="2200"/>
            </a:pPr>
            <a:r>
              <a:t>Phase 3 - Finance &amp; Dashboards</a:t>
            </a:r>
          </a:p>
          <a:p>
            <a:pPr>
              <a:defRPr sz="2200"/>
            </a:pPr>
            <a:r>
              <a:t>Phase 4 - HRMS &amp; Mobility</a:t>
            </a:r>
          </a:p>
          <a:p>
            <a:pPr>
              <a:defRPr sz="2200"/>
            </a:pPr>
            <a:r>
              <a:t>Phase 5 - AI &amp; Predictive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Product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0467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Discovery</a:t>
            </a:r>
          </a:p>
          <a:p>
            <a:pPr>
              <a:defRPr sz="2200"/>
            </a:pPr>
            <a:r>
              <a:t>Requirements</a:t>
            </a:r>
          </a:p>
          <a:p>
            <a:pPr>
              <a:defRPr sz="2200"/>
            </a:pPr>
            <a:r>
              <a:t>User Stories</a:t>
            </a:r>
          </a:p>
          <a:p>
            <a:pPr>
              <a:defRPr sz="2200"/>
            </a:pPr>
            <a:r>
              <a:t>Backlog Prioritization</a:t>
            </a:r>
          </a:p>
          <a:p>
            <a:pPr>
              <a:defRPr sz="2200"/>
            </a:pPr>
            <a:r>
              <a:t>Sprint Planning</a:t>
            </a:r>
          </a:p>
          <a:p>
            <a:pPr>
              <a:defRPr sz="2200"/>
            </a:pPr>
            <a:r>
              <a:t>Development</a:t>
            </a:r>
          </a:p>
          <a:p>
            <a:pPr>
              <a:defRPr sz="2200"/>
            </a:pPr>
            <a:r>
              <a:t>UAT</a:t>
            </a:r>
          </a:p>
          <a:p>
            <a:pPr>
              <a:defRPr sz="2200"/>
            </a:pPr>
            <a:r>
              <a:t>Release</a:t>
            </a:r>
          </a:p>
          <a:p>
            <a:pPr>
              <a:defRPr sz="2200"/>
            </a:pPr>
            <a:r>
              <a:t>Feedback &amp; Continuous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0467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35% increase in digital adoption</a:t>
            </a:r>
          </a:p>
          <a:p>
            <a:pPr>
              <a:defRPr sz="2200"/>
            </a:pPr>
            <a:r>
              <a:t>• 40% reduction in process turnaround</a:t>
            </a:r>
          </a:p>
          <a:p>
            <a:pPr>
              <a:defRPr sz="2200"/>
            </a:pPr>
            <a:r>
              <a:t>• 30% improvement in incident resolution</a:t>
            </a:r>
          </a:p>
          <a:p>
            <a:pPr>
              <a:defRPr sz="2200"/>
            </a:pPr>
            <a:r>
              <a:t>• 25% reduction in IT costs</a:t>
            </a:r>
          </a:p>
          <a:p>
            <a:pPr>
              <a:defRPr sz="2200"/>
            </a:pPr>
            <a:r>
              <a:t>• 500+ vendors onboarded</a:t>
            </a:r>
          </a:p>
          <a:p>
            <a:pPr>
              <a:defRPr sz="2200"/>
            </a:pPr>
            <a:r>
              <a:t>• 50+ enterprise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Stakeholder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0467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Executive Management</a:t>
            </a:r>
          </a:p>
          <a:p>
            <a:pPr>
              <a:defRPr sz="2200"/>
            </a:pPr>
            <a:r>
              <a:t>Operations</a:t>
            </a:r>
          </a:p>
          <a:p>
            <a:pPr>
              <a:defRPr sz="2200"/>
            </a:pPr>
            <a:r>
              <a:t>Finance</a:t>
            </a:r>
          </a:p>
          <a:p>
            <a:pPr>
              <a:defRPr sz="2200"/>
            </a:pPr>
            <a:r>
              <a:t>HR</a:t>
            </a:r>
          </a:p>
          <a:p>
            <a:pPr>
              <a:defRPr sz="2200"/>
            </a:pPr>
            <a:r>
              <a:t>Procurement</a:t>
            </a:r>
          </a:p>
          <a:p>
            <a:pPr>
              <a:defRPr sz="2200"/>
            </a:pPr>
            <a:r>
              <a:t>Customers</a:t>
            </a:r>
          </a:p>
          <a:p>
            <a:pPr>
              <a:defRPr sz="2200"/>
            </a:pPr>
            <a:r>
              <a:t>Vendors</a:t>
            </a:r>
          </a:p>
          <a:p>
            <a:pPr>
              <a:defRPr sz="2200"/>
            </a:pPr>
            <a:r>
              <a:t>Development Team</a:t>
            </a:r>
          </a:p>
          <a:p>
            <a:pPr>
              <a:defRPr sz="2200"/>
            </a:pPr>
            <a:r>
              <a:t>IT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0467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User adoption is critical</a:t>
            </a:r>
          </a:p>
          <a:p>
            <a:pPr>
              <a:defRPr sz="2200"/>
            </a:pPr>
            <a:r>
              <a:t>• Engage stakeholders early</a:t>
            </a:r>
          </a:p>
          <a:p>
            <a:pPr>
              <a:defRPr sz="2200"/>
            </a:pPr>
            <a:r>
              <a:t>• Deliver in phases</a:t>
            </a:r>
          </a:p>
          <a:p>
            <a:pPr>
              <a:defRPr sz="2200"/>
            </a:pPr>
            <a:r>
              <a:t>• Measure KPIs continuously</a:t>
            </a:r>
          </a:p>
          <a:p>
            <a:pPr>
              <a:defRPr sz="2200"/>
            </a:pPr>
            <a:r>
              <a:t>• Keep the roadmap aligned to business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0467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AI-powered enterprise assistant</a:t>
            </a:r>
          </a:p>
          <a:p>
            <a:pPr>
              <a:defRPr sz="2200"/>
            </a:pPr>
            <a:r>
              <a:t>• Predictive maintenance</a:t>
            </a:r>
          </a:p>
          <a:p>
            <a:pPr>
              <a:defRPr sz="2200"/>
            </a:pPr>
            <a:r>
              <a:t>• Microsoft Copilot integration</a:t>
            </a:r>
          </a:p>
          <a:p>
            <a:pPr>
              <a:defRPr sz="2200"/>
            </a:pPr>
            <a:r>
              <a:t>• UAE e-Invoicing</a:t>
            </a:r>
          </a:p>
          <a:p>
            <a:pPr>
              <a:defRPr sz="2200"/>
            </a:pPr>
            <a:r>
              <a:t>• Advanced analytics</a:t>
            </a:r>
          </a:p>
          <a:p>
            <a:pPr>
              <a:defRPr sz="2200"/>
            </a:pPr>
            <a:r>
              <a:t>• Enterprise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Iteration 3 – Product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Enterprise Products Delivered</a:t>
            </a:r>
          </a:p>
          <a:p>
            <a:pPr>
              <a:defRPr sz="2100"/>
            </a:pPr>
            <a:endParaRPr/>
          </a:p>
          <a:p>
            <a:pPr>
              <a:defRPr sz="2100"/>
            </a:pPr>
            <a:r>
              <a:t>This section showcases major digital products, business value and your role.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Enterprise Product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• EnFM360 Enterprise Platform</a:t>
            </a:r>
          </a:p>
          <a:p>
            <a:pPr>
              <a:defRPr sz="2100"/>
            </a:pPr>
            <a:r>
              <a:t>• ERP &amp; CAFM</a:t>
            </a:r>
          </a:p>
          <a:p>
            <a:pPr>
              <a:defRPr sz="2100"/>
            </a:pPr>
            <a:r>
              <a:t>• HRMS</a:t>
            </a:r>
          </a:p>
          <a:p>
            <a:pPr>
              <a:defRPr sz="2100"/>
            </a:pPr>
            <a:r>
              <a:t>• Vendor Portal</a:t>
            </a:r>
          </a:p>
          <a:p>
            <a:pPr>
              <a:defRPr sz="2100"/>
            </a:pPr>
            <a:r>
              <a:t>• Customer Portal</a:t>
            </a:r>
          </a:p>
          <a:p>
            <a:pPr>
              <a:defRPr sz="2100"/>
            </a:pPr>
            <a:r>
              <a:t>• Mobile Applications</a:t>
            </a:r>
          </a:p>
          <a:p>
            <a:pPr>
              <a:defRPr sz="2100"/>
            </a:pPr>
            <a:r>
              <a:t>• Power BI Dashboards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EnFM360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Role: Product Owner</a:t>
            </a:r>
          </a:p>
          <a:p>
            <a:pPr>
              <a:defRPr sz="2100"/>
            </a:pPr>
            <a:r>
              <a:t>Modules: Work Orders, Assets, Procurement, Finance, HR, Inventory, Dashboards</a:t>
            </a:r>
          </a:p>
          <a:p>
            <a:pPr>
              <a:defRPr sz="2100"/>
            </a:pPr>
            <a:r>
              <a:t>Business Value: Unified enterprise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Vendor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Digital supplier onboarding</a:t>
            </a:r>
          </a:p>
          <a:p>
            <a:pPr>
              <a:defRPr sz="2100"/>
            </a:pPr>
            <a:r>
              <a:t>PO Acceptance</a:t>
            </a:r>
          </a:p>
          <a:p>
            <a:pPr>
              <a:defRPr sz="2100"/>
            </a:pPr>
            <a:r>
              <a:t>GRN</a:t>
            </a:r>
          </a:p>
          <a:p>
            <a:pPr>
              <a:defRPr sz="2100"/>
            </a:pPr>
            <a:r>
              <a:t>Invoice Upload</a:t>
            </a:r>
          </a:p>
          <a:p>
            <a:pPr>
              <a:defRPr sz="2100"/>
            </a:pPr>
            <a:r>
              <a:t>Vendor Performance</a:t>
            </a:r>
          </a:p>
          <a:p>
            <a:pPr>
              <a:defRPr sz="2100"/>
            </a:pPr>
            <a:r>
              <a:t>500+ Vendors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Customer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Customer self-service</a:t>
            </a:r>
          </a:p>
          <a:p>
            <a:pPr>
              <a:defRPr sz="2100"/>
            </a:pPr>
            <a:r>
              <a:t>Asset visibility</a:t>
            </a:r>
          </a:p>
          <a:p>
            <a:pPr>
              <a:defRPr sz="2100"/>
            </a:pPr>
            <a:r>
              <a:t>Work Order Tracking</a:t>
            </a:r>
          </a:p>
          <a:p>
            <a:pPr>
              <a:defRPr sz="2100"/>
            </a:pPr>
            <a:r>
              <a:t>Service History</a:t>
            </a:r>
          </a:p>
          <a:p>
            <a:pPr>
              <a:defRPr sz="2100"/>
            </a:pPr>
            <a:r>
              <a:t>Reports</a:t>
            </a:r>
          </a:p>
          <a:p>
            <a:pPr>
              <a:defRPr sz="2100"/>
            </a:pPr>
            <a:r>
              <a:t>50+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Customer Mobile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QR Code Requests</a:t>
            </a:r>
          </a:p>
          <a:p>
            <a:pPr>
              <a:defRPr sz="2100"/>
            </a:pPr>
            <a:r>
              <a:t>Maintenance Requests</a:t>
            </a:r>
          </a:p>
          <a:p>
            <a:pPr>
              <a:defRPr sz="2100"/>
            </a:pPr>
            <a:r>
              <a:t>Request History</a:t>
            </a:r>
          </a:p>
          <a:p>
            <a:pPr>
              <a:defRPr sz="2100"/>
            </a:pPr>
            <a:r>
              <a:t>Feedback &amp; Ratings</a:t>
            </a:r>
          </a:p>
          <a:p>
            <a:pPr>
              <a:defRPr sz="2100"/>
            </a:pPr>
            <a:r>
              <a:t>PDF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Technician Mobile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Reactive &amp; Preventive Maintenance</a:t>
            </a:r>
          </a:p>
          <a:p>
            <a:pPr>
              <a:defRPr sz="2100"/>
            </a:pPr>
            <a:r>
              <a:t>Material Booking</a:t>
            </a:r>
          </a:p>
          <a:p>
            <a:pPr>
              <a:defRPr sz="2100"/>
            </a:pPr>
            <a:r>
              <a:t>Asset Register</a:t>
            </a:r>
          </a:p>
          <a:p>
            <a:pPr>
              <a:defRPr sz="2100"/>
            </a:pPr>
            <a:r>
              <a:t>Photo Capture</a:t>
            </a:r>
          </a:p>
          <a:p>
            <a:pPr>
              <a:defRPr sz="2100"/>
            </a:pPr>
            <a:r>
              <a:t>Customer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Hospitality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QR Ordering</a:t>
            </a:r>
          </a:p>
          <a:p>
            <a:pPr>
              <a:defRPr sz="2100"/>
            </a:pPr>
            <a:r>
              <a:t>Menu Management</a:t>
            </a:r>
          </a:p>
          <a:p>
            <a:pPr>
              <a:defRPr sz="2100"/>
            </a:pPr>
            <a:r>
              <a:t>Pantry Dashboard</a:t>
            </a:r>
          </a:p>
          <a:p>
            <a:pPr>
              <a:defRPr sz="2100"/>
            </a:pPr>
            <a:r>
              <a:t>Management Dashboard</a:t>
            </a:r>
          </a:p>
          <a:p>
            <a:pPr>
              <a:defRPr sz="2100"/>
            </a:pPr>
            <a:r>
              <a:t>Digital Hospitality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Power BI &amp; Executive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P&amp;L Dashboard</a:t>
            </a:r>
          </a:p>
          <a:p>
            <a:pPr>
              <a:defRPr sz="2100"/>
            </a:pPr>
            <a:r>
              <a:t>Procurement</a:t>
            </a:r>
          </a:p>
          <a:p>
            <a:pPr>
              <a:defRPr sz="2100"/>
            </a:pPr>
            <a:r>
              <a:t>Vehicle</a:t>
            </a:r>
          </a:p>
          <a:p>
            <a:pPr>
              <a:defRPr sz="2100"/>
            </a:pPr>
            <a:r>
              <a:t>Operations</a:t>
            </a:r>
          </a:p>
          <a:p>
            <a:pPr>
              <a:defRPr sz="2100"/>
            </a:pPr>
            <a:r>
              <a:t>SLA</a:t>
            </a:r>
          </a:p>
          <a:p>
            <a:pPr>
              <a:defRPr sz="2100"/>
            </a:pPr>
            <a:r>
              <a:t>Finance</a:t>
            </a:r>
          </a:p>
          <a:p>
            <a:pPr>
              <a:defRPr sz="2100"/>
            </a:pPr>
            <a:r>
              <a:t>Customer Survey</a:t>
            </a:r>
          </a:p>
          <a:p>
            <a:pPr>
              <a:defRPr sz="2100"/>
            </a:pPr>
            <a:r>
              <a:t>Business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AI &amp;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Power Automate</a:t>
            </a:r>
          </a:p>
          <a:p>
            <a:pPr>
              <a:defRPr sz="2100"/>
            </a:pPr>
            <a:r>
              <a:t>Workflow Automation</a:t>
            </a:r>
          </a:p>
          <a:p>
            <a:pPr>
              <a:defRPr sz="2100"/>
            </a:pPr>
            <a:r>
              <a:t>AI Readiness</a:t>
            </a:r>
          </a:p>
          <a:p>
            <a:pPr>
              <a:defRPr sz="2100"/>
            </a:pPr>
            <a:r>
              <a:t>Prompt Engineering</a:t>
            </a:r>
          </a:p>
          <a:p>
            <a:pPr>
              <a:defRPr sz="2100"/>
            </a:pPr>
            <a:r>
              <a:t>Future Copilot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Business 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• 35% Digital Adoption</a:t>
            </a:r>
          </a:p>
          <a:p>
            <a:pPr>
              <a:defRPr sz="2100"/>
            </a:pPr>
            <a:r>
              <a:t>• 40% Faster Processes</a:t>
            </a:r>
          </a:p>
          <a:p>
            <a:pPr>
              <a:defRPr sz="2100"/>
            </a:pPr>
            <a:r>
              <a:t>• 30% Better Incident Resolution</a:t>
            </a:r>
          </a:p>
          <a:p>
            <a:pPr>
              <a:defRPr sz="2100"/>
            </a:pPr>
            <a:r>
              <a:t>• 25% Cost Reduction</a:t>
            </a:r>
          </a:p>
          <a:p>
            <a:pPr>
              <a:defRPr sz="2100"/>
            </a:pPr>
            <a:r>
              <a:t>• Award-winning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Products built with customer-centric design, Agile delivery, measurable business outcomes and continuous innovation.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Iteration 4 – Executive Leadership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Enterprise Leadership, Delivery Excellence &amp; Technology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Presentation Layer</a:t>
            </a:r>
          </a:p>
          <a:p>
            <a:pPr>
              <a:defRPr sz="2000"/>
            </a:pPr>
            <a:r>
              <a:t>Mobile Apps</a:t>
            </a:r>
          </a:p>
          <a:p>
            <a:pPr>
              <a:defRPr sz="2000"/>
            </a:pPr>
            <a:r>
              <a:t>Customer Portal</a:t>
            </a:r>
          </a:p>
          <a:p>
            <a:pPr>
              <a:defRPr sz="2000"/>
            </a:pPr>
            <a:r>
              <a:t>Vendor Portal</a:t>
            </a:r>
          </a:p>
          <a:p>
            <a:pPr>
              <a:defRPr sz="2000"/>
            </a:pPr>
            <a:r>
              <a:t>Business Layer: EnFM360</a:t>
            </a:r>
          </a:p>
          <a:p>
            <a:pPr>
              <a:defRPr sz="2000"/>
            </a:pPr>
            <a:r>
              <a:t>Data Layer: SQL Server</a:t>
            </a:r>
          </a:p>
          <a:p>
            <a:pPr>
              <a:defRPr sz="2000"/>
            </a:pPr>
            <a:r>
              <a:t>Cloud: Azure &amp; Microsoft 365</a:t>
            </a:r>
          </a:p>
          <a:p>
            <a:pPr>
              <a:defRPr sz="2000"/>
            </a:pPr>
            <a:r>
              <a:t>Analytics: Power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Azure</a:t>
            </a:r>
          </a:p>
          <a:p>
            <a:pPr>
              <a:defRPr sz="2000"/>
            </a:pPr>
            <a:r>
              <a:t>Microsoft 365</a:t>
            </a:r>
          </a:p>
          <a:p>
            <a:pPr>
              <a:defRPr sz="2000"/>
            </a:pPr>
            <a:r>
              <a:t>Power BI</a:t>
            </a:r>
          </a:p>
          <a:p>
            <a:pPr>
              <a:defRPr sz="2000"/>
            </a:pPr>
            <a:r>
              <a:t>Power Platform</a:t>
            </a:r>
          </a:p>
          <a:p>
            <a:pPr>
              <a:defRPr sz="2000"/>
            </a:pPr>
            <a:r>
              <a:t>SQL Server</a:t>
            </a:r>
          </a:p>
          <a:p>
            <a:pPr>
              <a:defRPr sz="2000"/>
            </a:pPr>
            <a:r>
              <a:t>.NET</a:t>
            </a:r>
          </a:p>
          <a:p>
            <a:pPr>
              <a:defRPr sz="2000"/>
            </a:pPr>
            <a:r>
              <a:t>REST APIs</a:t>
            </a:r>
          </a:p>
          <a:p>
            <a:pPr>
              <a:defRPr sz="2000"/>
            </a:pPr>
            <a:r>
              <a:t>SharePoint</a:t>
            </a:r>
          </a:p>
          <a:p>
            <a:pPr>
              <a:defRPr sz="2000"/>
            </a:pPr>
            <a:r>
              <a:t>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ERP / CAFM / HRMS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ERP Implementations: 4</a:t>
            </a:r>
          </a:p>
          <a:p>
            <a:pPr>
              <a:defRPr sz="2000"/>
            </a:pPr>
            <a:r>
              <a:t>CAFM Implementations: 7</a:t>
            </a:r>
          </a:p>
          <a:p>
            <a:pPr>
              <a:defRPr sz="2000"/>
            </a:pPr>
            <a:r>
              <a:t>HRMS Implementations: 2</a:t>
            </a:r>
          </a:p>
          <a:p>
            <a:pPr>
              <a:defRPr sz="2000"/>
            </a:pPr>
            <a:r>
              <a:t>Enterprise Integration</a:t>
            </a:r>
          </a:p>
          <a:p>
            <a:pPr>
              <a:defRPr sz="2000"/>
            </a:pPr>
            <a:r>
              <a:t>Business Process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Project Delivery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Discovery</a:t>
            </a:r>
          </a:p>
          <a:p>
            <a:pPr>
              <a:defRPr sz="2000"/>
            </a:pPr>
            <a:r>
              <a:t>Requirements</a:t>
            </a:r>
          </a:p>
          <a:p>
            <a:pPr>
              <a:defRPr sz="2000"/>
            </a:pPr>
            <a:r>
              <a:t>Solution Design</a:t>
            </a:r>
          </a:p>
          <a:p>
            <a:pPr>
              <a:defRPr sz="2000"/>
            </a:pPr>
            <a:r>
              <a:t>Sprint Planning</a:t>
            </a:r>
          </a:p>
          <a:p>
            <a:pPr>
              <a:defRPr sz="2000"/>
            </a:pPr>
            <a:r>
              <a:t>Development</a:t>
            </a:r>
          </a:p>
          <a:p>
            <a:pPr>
              <a:defRPr sz="2000"/>
            </a:pPr>
            <a:r>
              <a:t>UAT</a:t>
            </a:r>
          </a:p>
          <a:p>
            <a:pPr>
              <a:defRPr sz="2000"/>
            </a:pPr>
            <a:r>
              <a:t>Go-Live</a:t>
            </a:r>
          </a:p>
          <a:p>
            <a:pPr>
              <a:defRPr sz="2000"/>
            </a:pPr>
            <a:r>
              <a:t>Hypercare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Agile Delivery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Product Vision</a:t>
            </a:r>
          </a:p>
          <a:p>
            <a:pPr>
              <a:defRPr sz="2000"/>
            </a:pPr>
            <a:r>
              <a:t>Roadmap</a:t>
            </a:r>
          </a:p>
          <a:p>
            <a:pPr>
              <a:defRPr sz="2000"/>
            </a:pPr>
            <a:r>
              <a:t>Backlog</a:t>
            </a:r>
          </a:p>
          <a:p>
            <a:pPr>
              <a:defRPr sz="2000"/>
            </a:pPr>
            <a:r>
              <a:t>Sprint</a:t>
            </a:r>
          </a:p>
          <a:p>
            <a:pPr>
              <a:defRPr sz="2000"/>
            </a:pPr>
            <a:r>
              <a:t>Review</a:t>
            </a:r>
          </a:p>
          <a:p>
            <a:pPr>
              <a:defRPr sz="2000"/>
            </a:pPr>
            <a:r>
              <a:t>Retrospective</a:t>
            </a:r>
          </a:p>
          <a:p>
            <a:pPr>
              <a:defRPr sz="2000"/>
            </a:pPr>
            <a:r>
              <a:t>Continuous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Governance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Steering Committee</a:t>
            </a:r>
          </a:p>
          <a:p>
            <a:pPr>
              <a:defRPr sz="2000"/>
            </a:pPr>
            <a:r>
              <a:t>Executive Reporting</a:t>
            </a:r>
          </a:p>
          <a:p>
            <a:pPr>
              <a:defRPr sz="2000"/>
            </a:pPr>
            <a:r>
              <a:t>Risk Reviews</a:t>
            </a:r>
          </a:p>
          <a:p>
            <a:pPr>
              <a:defRPr sz="2000"/>
            </a:pPr>
            <a:r>
              <a:t>Change Control</a:t>
            </a:r>
          </a:p>
          <a:p>
            <a:pPr>
              <a:defRPr sz="2000"/>
            </a:pPr>
            <a:r>
              <a:t>Quality Gates</a:t>
            </a:r>
          </a:p>
          <a:p>
            <a:pPr>
              <a:defRPr sz="2000"/>
            </a:pPr>
            <a:r>
              <a:t>Benefits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Stakeholder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CEO &amp; Leadership</a:t>
            </a:r>
          </a:p>
          <a:p>
            <a:pPr>
              <a:defRPr sz="2000"/>
            </a:pPr>
            <a:r>
              <a:t>Operations</a:t>
            </a:r>
          </a:p>
          <a:p>
            <a:pPr>
              <a:defRPr sz="2000"/>
            </a:pPr>
            <a:r>
              <a:t>Finance</a:t>
            </a:r>
          </a:p>
          <a:p>
            <a:pPr>
              <a:defRPr sz="2000"/>
            </a:pPr>
            <a:r>
              <a:t>HR</a:t>
            </a:r>
          </a:p>
          <a:p>
            <a:pPr>
              <a:defRPr sz="2000"/>
            </a:pPr>
            <a:r>
              <a:t>Procurement</a:t>
            </a:r>
          </a:p>
          <a:p>
            <a:pPr>
              <a:defRPr sz="2000"/>
            </a:pPr>
            <a:r>
              <a:t>Customers</a:t>
            </a:r>
          </a:p>
          <a:p>
            <a:pPr>
              <a:defRPr sz="2000"/>
            </a:pPr>
            <a:r>
              <a:t>Vendors</a:t>
            </a:r>
          </a:p>
          <a:p>
            <a:pPr>
              <a:defRPr sz="2000"/>
            </a:pPr>
            <a:r>
              <a:t>Technology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Vendor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Vendor Selection</a:t>
            </a:r>
          </a:p>
          <a:p>
            <a:pPr>
              <a:defRPr sz="2000"/>
            </a:pPr>
            <a:r>
              <a:t>Contract Negotiation</a:t>
            </a:r>
          </a:p>
          <a:p>
            <a:pPr>
              <a:defRPr sz="2000"/>
            </a:pPr>
            <a:r>
              <a:t>SLA Governance</a:t>
            </a:r>
          </a:p>
          <a:p>
            <a:pPr>
              <a:defRPr sz="2000"/>
            </a:pPr>
            <a:r>
              <a:t>Performance Reviews</a:t>
            </a:r>
          </a:p>
          <a:p>
            <a:pPr>
              <a:defRPr sz="2000"/>
            </a:pPr>
            <a:r>
              <a:t>Cost Optimisation</a:t>
            </a:r>
          </a:p>
          <a:p>
            <a:pPr>
              <a:defRPr sz="2000"/>
            </a:pPr>
            <a:r>
              <a:t>Relationship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Risk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ISO 27001</a:t>
            </a:r>
          </a:p>
          <a:p>
            <a:pPr>
              <a:defRPr sz="2000"/>
            </a:pPr>
            <a:r>
              <a:t>Business Continuity</a:t>
            </a:r>
          </a:p>
          <a:p>
            <a:pPr>
              <a:defRPr sz="2000"/>
            </a:pPr>
            <a:r>
              <a:t>Disaster Recovery</a:t>
            </a:r>
          </a:p>
          <a:p>
            <a:pPr>
              <a:defRPr sz="2000"/>
            </a:pPr>
            <a:r>
              <a:t>Cybersecurity</a:t>
            </a:r>
          </a:p>
          <a:p>
            <a:pPr>
              <a:defRPr sz="2000"/>
            </a:pPr>
            <a:r>
              <a:t>Access Control</a:t>
            </a:r>
          </a:p>
          <a:p>
            <a:pPr>
              <a:defRPr sz="2000"/>
            </a:pPr>
            <a:r>
              <a:t>Audit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Financial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Portfolio Budget: 7M+ AED</a:t>
            </a:r>
          </a:p>
          <a:p>
            <a:pPr>
              <a:defRPr sz="2000"/>
            </a:pPr>
            <a:r>
              <a:t>Business Cases</a:t>
            </a:r>
          </a:p>
          <a:p>
            <a:pPr>
              <a:defRPr sz="2000"/>
            </a:pPr>
            <a:r>
              <a:t>ROI Tracking</a:t>
            </a:r>
          </a:p>
          <a:p>
            <a:pPr>
              <a:defRPr sz="2000"/>
            </a:pPr>
            <a:r>
              <a:t>Cost Optimisation</a:t>
            </a:r>
          </a:p>
          <a:p>
            <a:pPr>
              <a:defRPr sz="2000"/>
            </a:pPr>
            <a:r>
              <a:t>Procurement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Team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Managed 18–20 professionals</a:t>
            </a:r>
          </a:p>
          <a:p>
            <a:pPr>
              <a:defRPr sz="2000"/>
            </a:pPr>
            <a:r>
              <a:t>Cross-functional Teams</a:t>
            </a:r>
          </a:p>
          <a:p>
            <a:pPr>
              <a:defRPr sz="2000"/>
            </a:pPr>
            <a:r>
              <a:t>Mentoring</a:t>
            </a:r>
          </a:p>
          <a:p>
            <a:pPr>
              <a:defRPr sz="2000"/>
            </a:pPr>
            <a:r>
              <a:t>Performance Management</a:t>
            </a:r>
          </a:p>
          <a:p>
            <a:pPr>
              <a:defRPr sz="2000"/>
            </a:pPr>
            <a:r>
              <a:t>Innovation 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Awards &amp;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MEFMA Digital Transformation</a:t>
            </a:r>
          </a:p>
          <a:p>
            <a:pPr>
              <a:defRPr sz="2000"/>
            </a:pPr>
            <a:r>
              <a:t>Technology Implementation Awards</a:t>
            </a:r>
          </a:p>
          <a:p>
            <a:pPr>
              <a:defRPr sz="2000"/>
            </a:pPr>
            <a:r>
              <a:t>Technology &amp; Innovation Award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Certifications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PMP®</a:t>
            </a:r>
          </a:p>
          <a:p>
            <a:pPr>
              <a:defRPr sz="2000"/>
            </a:pPr>
            <a:r>
              <a:t>PMI Membership</a:t>
            </a:r>
          </a:p>
          <a:p>
            <a:pPr>
              <a:defRPr sz="2000"/>
            </a:pPr>
            <a:r>
              <a:t>Generative AI for Project Managers</a:t>
            </a:r>
          </a:p>
          <a:p>
            <a:pPr>
              <a:defRPr sz="2000"/>
            </a:pPr>
            <a:r>
              <a:t>Prompt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Future Executive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Enterprise AI</a:t>
            </a:r>
          </a:p>
          <a:p>
            <a:pPr>
              <a:defRPr sz="2000"/>
            </a:pPr>
            <a:r>
              <a:t>Predictive Analytics</a:t>
            </a:r>
          </a:p>
          <a:p>
            <a:pPr>
              <a:defRPr sz="2000"/>
            </a:pPr>
            <a:r>
              <a:t>Digital Twins</a:t>
            </a:r>
          </a:p>
          <a:p>
            <a:pPr>
              <a:defRPr sz="2000"/>
            </a:pPr>
            <a:r>
              <a:t>Copilot</a:t>
            </a:r>
          </a:p>
          <a:p>
            <a:pPr>
              <a:defRPr sz="2000"/>
            </a:pPr>
            <a:r>
              <a:t>Data-driven Decisions</a:t>
            </a:r>
          </a:p>
          <a:p>
            <a:pPr>
              <a:defRPr sz="2000"/>
            </a:pPr>
            <a:r>
              <a:t>Continuous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Iteration 5 – Executive Brand &amp; Career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Final portfolio section focused on executive positioning and personal brand.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Executive Achievements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14+ Years UAE Experience</a:t>
            </a:r>
          </a:p>
          <a:p>
            <a:pPr>
              <a:defRPr sz="2000"/>
            </a:pPr>
            <a:r>
              <a:t>• 7M+ AED Transformation Portfolio</a:t>
            </a:r>
          </a:p>
          <a:p>
            <a:pPr>
              <a:defRPr sz="2000"/>
            </a:pPr>
            <a:r>
              <a:t>• 4 ERP | 7 CAFM | 2 HRMS Implementations</a:t>
            </a:r>
          </a:p>
          <a:p>
            <a:pPr>
              <a:defRPr sz="2000"/>
            </a:pPr>
            <a:r>
              <a:t>• 500+ Vendors | 50+ Customers | 250+ Users</a:t>
            </a:r>
          </a:p>
          <a:p>
            <a:pPr>
              <a:defRPr sz="2000"/>
            </a:pPr>
            <a:r>
              <a:t>• 3 Industry Awards | PMP® Certified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Career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Built award-winning EnFM360 platform</a:t>
            </a:r>
          </a:p>
          <a:p>
            <a:pPr>
              <a:defRPr sz="2000"/>
            </a:pPr>
            <a:r>
              <a:t>Led enterprise digital transformation</a:t>
            </a:r>
          </a:p>
          <a:p>
            <a:pPr>
              <a:defRPr sz="2000"/>
            </a:pPr>
            <a:r>
              <a:t>Delivered AI, ERP, CAFM, HRMS and analytics initiatives</a:t>
            </a:r>
          </a:p>
          <a:p>
            <a:pPr>
              <a:defRPr sz="2000"/>
            </a:pPr>
            <a:r>
              <a:t>Managed cross-functional teams of 18–20 professionals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Business Case Study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Challenge: Fragmented operations</a:t>
            </a:r>
          </a:p>
          <a:p>
            <a:pPr>
              <a:defRPr sz="2000"/>
            </a:pPr>
            <a:r>
              <a:t>Solution: Unified enterprise platform</a:t>
            </a:r>
          </a:p>
          <a:p>
            <a:pPr>
              <a:defRPr sz="2000"/>
            </a:pPr>
            <a:r>
              <a:t>Approach: Agile delivery &amp; stakeholder engagement</a:t>
            </a:r>
          </a:p>
          <a:p>
            <a:pPr>
              <a:defRPr sz="2000"/>
            </a:pPr>
            <a:r>
              <a:t>Outcome: Faster processes, improved governance, higher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Leadership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Customer First</a:t>
            </a:r>
          </a:p>
          <a:p>
            <a:pPr>
              <a:defRPr sz="2000"/>
            </a:pPr>
            <a:r>
              <a:t>Business Value</a:t>
            </a:r>
          </a:p>
          <a:p>
            <a:pPr>
              <a:defRPr sz="2000"/>
            </a:pPr>
            <a:r>
              <a:t>Innovation</a:t>
            </a:r>
          </a:p>
          <a:p>
            <a:pPr>
              <a:defRPr sz="2000"/>
            </a:pPr>
            <a:r>
              <a:t>People</a:t>
            </a:r>
          </a:p>
          <a:p>
            <a:pPr>
              <a:defRPr sz="2000"/>
            </a:pPr>
            <a:r>
              <a:t>Continuous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Thought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Digital Transformation</a:t>
            </a:r>
          </a:p>
          <a:p>
            <a:pPr>
              <a:defRPr sz="2000"/>
            </a:pPr>
            <a:r>
              <a:t>Enterprise Product Management</a:t>
            </a:r>
          </a:p>
          <a:p>
            <a:pPr>
              <a:defRPr sz="2000"/>
            </a:pPr>
            <a:r>
              <a:t>AI &amp; Automation</a:t>
            </a:r>
          </a:p>
          <a:p>
            <a:pPr>
              <a:defRPr sz="2000"/>
            </a:pPr>
            <a:r>
              <a:t>Data-driven decision making</a:t>
            </a:r>
          </a:p>
          <a:p>
            <a:pPr>
              <a:defRPr sz="2000"/>
            </a:pPr>
            <a:r>
              <a:t>Operational Excellence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Training &amp; Mentoring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Conducted user training</a:t>
            </a:r>
          </a:p>
          <a:p>
            <a:pPr>
              <a:defRPr sz="2000"/>
            </a:pPr>
            <a:r>
              <a:t>Executive demos</a:t>
            </a:r>
          </a:p>
          <a:p>
            <a:pPr>
              <a:defRPr sz="2000"/>
            </a:pPr>
            <a:r>
              <a:t>UAT workshops</a:t>
            </a:r>
          </a:p>
          <a:p>
            <a:pPr>
              <a:defRPr sz="2000"/>
            </a:pPr>
            <a:r>
              <a:t>Knowledge transfer</a:t>
            </a:r>
          </a:p>
          <a:p>
            <a:pPr>
              <a:defRPr sz="2000"/>
            </a:pPr>
            <a:r>
              <a:t>Change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Professional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2012 .NET Developer</a:t>
            </a:r>
          </a:p>
          <a:p>
            <a:pPr>
              <a:defRPr sz="2000"/>
            </a:pPr>
            <a:r>
              <a:t>2014 ERP Specialist</a:t>
            </a:r>
          </a:p>
          <a:p>
            <a:pPr>
              <a:defRPr sz="2000"/>
            </a:pPr>
            <a:r>
              <a:t>2017 Product Consultant</a:t>
            </a:r>
          </a:p>
          <a:p>
            <a:pPr>
              <a:defRPr sz="2000"/>
            </a:pPr>
            <a:r>
              <a:t>2021 Senior Product Owner / IT Manager</a:t>
            </a:r>
          </a:p>
          <a:p>
            <a:pPr>
              <a:defRPr sz="2000"/>
            </a:pPr>
            <a:r>
              <a:t>2026 Digital Transformation Leader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Target Executive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Head of Digital Transformation</a:t>
            </a:r>
          </a:p>
          <a:p>
            <a:pPr>
              <a:defRPr sz="2000"/>
            </a:pPr>
            <a:r>
              <a:t>Director – Enterprise Applications</a:t>
            </a:r>
          </a:p>
          <a:p>
            <a:pPr>
              <a:defRPr sz="2000"/>
            </a:pPr>
            <a:r>
              <a:t>Senior Product Owner</a:t>
            </a:r>
          </a:p>
          <a:p>
            <a:pPr>
              <a:defRPr sz="2000"/>
            </a:pPr>
            <a:r>
              <a:t>IT Director</a:t>
            </a:r>
          </a:p>
          <a:p>
            <a:pPr>
              <a:defRPr sz="2000"/>
            </a:pPr>
            <a:r>
              <a:t>Program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Core Competencies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Product Strategy</a:t>
            </a:r>
          </a:p>
          <a:p>
            <a:pPr>
              <a:defRPr sz="2000"/>
            </a:pPr>
            <a:r>
              <a:t>ERP</a:t>
            </a:r>
          </a:p>
          <a:p>
            <a:pPr>
              <a:defRPr sz="2000"/>
            </a:pPr>
            <a:r>
              <a:t>CAFM</a:t>
            </a:r>
          </a:p>
          <a:p>
            <a:pPr>
              <a:defRPr sz="2000"/>
            </a:pPr>
            <a:r>
              <a:t>HRMS</a:t>
            </a:r>
          </a:p>
          <a:p>
            <a:pPr>
              <a:defRPr sz="2000"/>
            </a:pPr>
            <a:r>
              <a:t>Power BI</a:t>
            </a:r>
          </a:p>
          <a:p>
            <a:pPr>
              <a:defRPr sz="2000"/>
            </a:pPr>
            <a:r>
              <a:t>Azure</a:t>
            </a:r>
          </a:p>
          <a:p>
            <a:pPr>
              <a:defRPr sz="2000"/>
            </a:pPr>
            <a:r>
              <a:t>Agile</a:t>
            </a:r>
          </a:p>
          <a:p>
            <a:pPr>
              <a:defRPr sz="2000"/>
            </a:pPr>
            <a:r>
              <a:t>Stakeholder Management</a:t>
            </a:r>
          </a:p>
          <a:p>
            <a:pPr>
              <a:defRPr sz="2000"/>
            </a:pPr>
            <a:r>
              <a:t>Vendor Management</a:t>
            </a:r>
          </a:p>
          <a:p>
            <a:pPr>
              <a:defRPr sz="2000"/>
            </a:pPr>
            <a:r>
              <a:t>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Professional Brand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Driving Enterprise Digital Transformation Through Product Leadership, AI &amp; Innovation.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424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Ankur Thakkar</a:t>
            </a:r>
          </a:p>
          <a:p>
            <a:pPr>
              <a:defRPr sz="2000"/>
            </a:pPr>
            <a:r>
              <a:t>Dubai, UAE</a:t>
            </a:r>
          </a:p>
          <a:p>
            <a:pPr>
              <a:defRPr sz="2000"/>
            </a:pPr>
            <a:r>
              <a:t>ankurthakkar8@gmail.com</a:t>
            </a:r>
          </a:p>
          <a:p>
            <a:pPr>
              <a:defRPr sz="2000"/>
            </a:pPr>
            <a:r>
              <a:t>+971 50 100 2801</a:t>
            </a:r>
          </a:p>
          <a:p>
            <a:pPr>
              <a:defRPr sz="2000"/>
            </a:pPr>
            <a:r>
              <a:t>LinkedIn: linkedin.com/in/ankur-thakkar-b84a321a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1695" cy="18000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1097</Words>
  <Application>Microsoft Office PowerPoint</Application>
  <PresentationFormat>Widescreen</PresentationFormat>
  <Paragraphs>373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ankur thakkar</cp:lastModifiedBy>
  <cp:revision>4</cp:revision>
  <dcterms:created xsi:type="dcterms:W3CDTF">2013-01-27T09:14:16Z</dcterms:created>
  <dcterms:modified xsi:type="dcterms:W3CDTF">2026-06-30T06:55:19Z</dcterms:modified>
  <cp:category/>
</cp:coreProperties>
</file>